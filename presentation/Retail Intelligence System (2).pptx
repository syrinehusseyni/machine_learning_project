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y="6858000" cx="12192000"/>
  <p:notesSz cx="6858000" cy="9144000"/>
  <p:embeddedFontLst>
    <p:embeddedFont>
      <p:font typeface="Inter SemiBold"/>
      <p:regular r:id="rId33"/>
      <p:bold r:id="rId34"/>
      <p:italic r:id="rId35"/>
      <p:boldItalic r:id="rId36"/>
    </p:embeddedFont>
    <p:embeddedFont>
      <p:font typeface="Plus Jakarta Sans"/>
      <p:regular r:id="rId37"/>
      <p:bold r:id="rId38"/>
      <p:italic r:id="rId39"/>
      <p:boldItalic r:id="rId40"/>
    </p:embeddedFont>
    <p:embeddedFont>
      <p:font typeface="Inter"/>
      <p:regular r:id="rId41"/>
      <p:bold r:id="rId42"/>
      <p:italic r:id="rId43"/>
      <p:boldItalic r:id="rId44"/>
    </p:embeddedFont>
    <p:embeddedFont>
      <p:font typeface="Plus Jakarta Sans SemiBold"/>
      <p:regular r:id="rId45"/>
      <p:bold r:id="rId46"/>
      <p:italic r:id="rId47"/>
      <p:boldItalic r:id="rId48"/>
    </p:embeddedFont>
    <p:embeddedFont>
      <p:font typeface="Inter Medium"/>
      <p:regular r:id="rId49"/>
      <p:bold r:id="rId50"/>
      <p:italic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E1892D9-C3CD-4922-B00A-4A21593602F8}">
  <a:tblStyle styleId="{CE1892D9-C3CD-4922-B00A-4A21593602F8}"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lusJakartaSans-boldItalic.fntdata"/><Relationship Id="rId42" Type="http://schemas.openxmlformats.org/officeDocument/2006/relationships/font" Target="fonts/Inter-bold.fntdata"/><Relationship Id="rId41" Type="http://schemas.openxmlformats.org/officeDocument/2006/relationships/font" Target="fonts/Inter-regular.fntdata"/><Relationship Id="rId44" Type="http://schemas.openxmlformats.org/officeDocument/2006/relationships/font" Target="fonts/Inter-boldItalic.fntdata"/><Relationship Id="rId43" Type="http://schemas.openxmlformats.org/officeDocument/2006/relationships/font" Target="fonts/Inter-italic.fntdata"/><Relationship Id="rId46" Type="http://schemas.openxmlformats.org/officeDocument/2006/relationships/font" Target="fonts/PlusJakartaSansSemiBold-bold.fntdata"/><Relationship Id="rId45" Type="http://schemas.openxmlformats.org/officeDocument/2006/relationships/font" Target="fonts/PlusJakartaSansSemiBold-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PlusJakartaSansSemiBold-boldItalic.fntdata"/><Relationship Id="rId47" Type="http://schemas.openxmlformats.org/officeDocument/2006/relationships/font" Target="fonts/PlusJakartaSansSemiBold-italic.fntdata"/><Relationship Id="rId49" Type="http://schemas.openxmlformats.org/officeDocument/2006/relationships/font" Target="fonts/InterMedium-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font" Target="fonts/InterSemiBold-regular.fntdata"/><Relationship Id="rId32" Type="http://schemas.openxmlformats.org/officeDocument/2006/relationships/slide" Target="slides/slide26.xml"/><Relationship Id="rId35" Type="http://schemas.openxmlformats.org/officeDocument/2006/relationships/font" Target="fonts/InterSemiBold-italic.fntdata"/><Relationship Id="rId34" Type="http://schemas.openxmlformats.org/officeDocument/2006/relationships/font" Target="fonts/InterSemiBold-bold.fntdata"/><Relationship Id="rId37" Type="http://schemas.openxmlformats.org/officeDocument/2006/relationships/font" Target="fonts/PlusJakartaSans-regular.fntdata"/><Relationship Id="rId36" Type="http://schemas.openxmlformats.org/officeDocument/2006/relationships/font" Target="fonts/InterSemiBold-boldItalic.fntdata"/><Relationship Id="rId39" Type="http://schemas.openxmlformats.org/officeDocument/2006/relationships/font" Target="fonts/PlusJakartaSans-italic.fntdata"/><Relationship Id="rId38" Type="http://schemas.openxmlformats.org/officeDocument/2006/relationships/font" Target="fonts/PlusJakartaSans-bold.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InterMedium-italic.fntdata"/><Relationship Id="rId50" Type="http://schemas.openxmlformats.org/officeDocument/2006/relationships/font" Target="fonts/InterMedium-bold.fntdata"/><Relationship Id="rId52" Type="http://schemas.openxmlformats.org/officeDocument/2006/relationships/font" Target="fonts/InterMedium-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d86b0e9ada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g3d86b0e9ada_0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11.png"/><Relationship Id="rId5" Type="http://schemas.openxmlformats.org/officeDocument/2006/relationships/image" Target="../media/image9.png"/><Relationship Id="rId6" Type="http://schemas.openxmlformats.org/officeDocument/2006/relationships/image" Target="../media/image1.png"/><Relationship Id="rId7" Type="http://schemas.openxmlformats.org/officeDocument/2006/relationships/image" Target="../media/image8.png"/><Relationship Id="rId8"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10.png"/><Relationship Id="rId11" Type="http://schemas.openxmlformats.org/officeDocument/2006/relationships/image" Target="../media/image3.png"/><Relationship Id="rId10" Type="http://schemas.openxmlformats.org/officeDocument/2006/relationships/image" Target="../media/image16.png"/><Relationship Id="rId12" Type="http://schemas.openxmlformats.org/officeDocument/2006/relationships/image" Target="../media/image14.png"/><Relationship Id="rId9" Type="http://schemas.openxmlformats.org/officeDocument/2006/relationships/image" Target="../media/image5.png"/><Relationship Id="rId5" Type="http://schemas.openxmlformats.org/officeDocument/2006/relationships/image" Target="../media/image18.png"/><Relationship Id="rId6" Type="http://schemas.openxmlformats.org/officeDocument/2006/relationships/image" Target="../media/image6.png"/><Relationship Id="rId7" Type="http://schemas.openxmlformats.org/officeDocument/2006/relationships/image" Target="../media/image15.png"/><Relationship Id="rId8"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22.png"/><Relationship Id="rId5" Type="http://schemas.openxmlformats.org/officeDocument/2006/relationships/image" Target="../media/image3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17.png"/><Relationship Id="rId5"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21.png"/><Relationship Id="rId5" Type="http://schemas.openxmlformats.org/officeDocument/2006/relationships/image" Target="../media/image28.png"/><Relationship Id="rId6" Type="http://schemas.openxmlformats.org/officeDocument/2006/relationships/image" Target="../media/image54.png"/><Relationship Id="rId7"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10.png"/><Relationship Id="rId11" Type="http://schemas.openxmlformats.org/officeDocument/2006/relationships/image" Target="../media/image23.png"/><Relationship Id="rId10" Type="http://schemas.openxmlformats.org/officeDocument/2006/relationships/image" Target="../media/image26.png"/><Relationship Id="rId12" Type="http://schemas.openxmlformats.org/officeDocument/2006/relationships/image" Target="../media/image25.png"/><Relationship Id="rId9" Type="http://schemas.openxmlformats.org/officeDocument/2006/relationships/image" Target="../media/image5.png"/><Relationship Id="rId5" Type="http://schemas.openxmlformats.org/officeDocument/2006/relationships/image" Target="../media/image18.png"/><Relationship Id="rId6" Type="http://schemas.openxmlformats.org/officeDocument/2006/relationships/image" Target="../media/image6.png"/><Relationship Id="rId7" Type="http://schemas.openxmlformats.org/officeDocument/2006/relationships/image" Target="../media/image15.png"/><Relationship Id="rId8"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27.png"/><Relationship Id="rId5" Type="http://schemas.openxmlformats.org/officeDocument/2006/relationships/image" Target="../media/image3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56.png"/><Relationship Id="rId5" Type="http://schemas.openxmlformats.org/officeDocument/2006/relationships/image" Target="../media/image2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37.png"/><Relationship Id="rId7" Type="http://schemas.openxmlformats.org/officeDocument/2006/relationships/image" Target="../media/image2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7.png"/><Relationship Id="rId4" Type="http://schemas.openxmlformats.org/officeDocument/2006/relationships/image" Target="../media/image33.png"/><Relationship Id="rId5" Type="http://schemas.openxmlformats.org/officeDocument/2006/relationships/image" Target="../media/image20.png"/><Relationship Id="rId6" Type="http://schemas.openxmlformats.org/officeDocument/2006/relationships/image" Target="../media/image47.png"/><Relationship Id="rId7" Type="http://schemas.openxmlformats.org/officeDocument/2006/relationships/image" Target="../media/image50.png"/></Relationships>
</file>

<file path=ppt/slides/_rels/slide15.xml.rels><?xml version="1.0" encoding="UTF-8" standalone="yes"?><Relationships xmlns="http://schemas.openxmlformats.org/package/2006/relationships"><Relationship Id="rId11" Type="http://schemas.openxmlformats.org/officeDocument/2006/relationships/image" Target="../media/image48.png"/><Relationship Id="rId10" Type="http://schemas.openxmlformats.org/officeDocument/2006/relationships/image" Target="../media/image39.png"/><Relationship Id="rId13" Type="http://schemas.openxmlformats.org/officeDocument/2006/relationships/image" Target="../media/image46.png"/><Relationship Id="rId12" Type="http://schemas.openxmlformats.org/officeDocument/2006/relationships/image" Target="../media/image49.png"/><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7.png"/><Relationship Id="rId4" Type="http://schemas.openxmlformats.org/officeDocument/2006/relationships/image" Target="../media/image38.png"/><Relationship Id="rId9" Type="http://schemas.openxmlformats.org/officeDocument/2006/relationships/image" Target="../media/image44.png"/><Relationship Id="rId14" Type="http://schemas.openxmlformats.org/officeDocument/2006/relationships/image" Target="../media/image32.png"/><Relationship Id="rId5" Type="http://schemas.openxmlformats.org/officeDocument/2006/relationships/image" Target="../media/image40.png"/><Relationship Id="rId6" Type="http://schemas.openxmlformats.org/officeDocument/2006/relationships/image" Target="../media/image34.png"/><Relationship Id="rId7" Type="http://schemas.openxmlformats.org/officeDocument/2006/relationships/image" Target="../media/image41.png"/><Relationship Id="rId8" Type="http://schemas.openxmlformats.org/officeDocument/2006/relationships/image" Target="../media/image4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7.png"/><Relationship Id="rId4" Type="http://schemas.openxmlformats.org/officeDocument/2006/relationships/image" Target="../media/image58.png"/><Relationship Id="rId5" Type="http://schemas.openxmlformats.org/officeDocument/2006/relationships/image" Target="../media/image45.png"/><Relationship Id="rId6" Type="http://schemas.openxmlformats.org/officeDocument/2006/relationships/image" Target="../media/image66.png"/><Relationship Id="rId7" Type="http://schemas.openxmlformats.org/officeDocument/2006/relationships/image" Target="../media/image4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7.png"/><Relationship Id="rId4" Type="http://schemas.openxmlformats.org/officeDocument/2006/relationships/image" Target="../media/image27.png"/><Relationship Id="rId5" Type="http://schemas.openxmlformats.org/officeDocument/2006/relationships/image" Target="../media/image5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1" Type="http://schemas.openxmlformats.org/officeDocument/2006/relationships/image" Target="../media/image60.png"/><Relationship Id="rId10" Type="http://schemas.openxmlformats.org/officeDocument/2006/relationships/image" Target="../media/image62.png"/><Relationship Id="rId13" Type="http://schemas.openxmlformats.org/officeDocument/2006/relationships/image" Target="../media/image63.png"/><Relationship Id="rId12" Type="http://schemas.openxmlformats.org/officeDocument/2006/relationships/image" Target="../media/image77.png"/><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7.png"/><Relationship Id="rId4" Type="http://schemas.openxmlformats.org/officeDocument/2006/relationships/image" Target="../media/image57.png"/><Relationship Id="rId9" Type="http://schemas.openxmlformats.org/officeDocument/2006/relationships/image" Target="../media/image71.png"/><Relationship Id="rId14" Type="http://schemas.openxmlformats.org/officeDocument/2006/relationships/image" Target="../media/image59.png"/><Relationship Id="rId5" Type="http://schemas.openxmlformats.org/officeDocument/2006/relationships/image" Target="../media/image53.png"/><Relationship Id="rId6" Type="http://schemas.openxmlformats.org/officeDocument/2006/relationships/image" Target="../media/image55.png"/><Relationship Id="rId7" Type="http://schemas.openxmlformats.org/officeDocument/2006/relationships/image" Target="../media/image51.png"/><Relationship Id="rId8" Type="http://schemas.openxmlformats.org/officeDocument/2006/relationships/image" Target="../media/image6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7.png"/><Relationship Id="rId4" Type="http://schemas.openxmlformats.org/officeDocument/2006/relationships/image" Target="../media/image6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7.png"/><Relationship Id="rId4" Type="http://schemas.openxmlformats.org/officeDocument/2006/relationships/image" Target="../media/image67.png"/><Relationship Id="rId5" Type="http://schemas.openxmlformats.org/officeDocument/2006/relationships/image" Target="../media/image6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68.png"/></Relationships>
</file>

<file path=ppt/slides/_rels/slide24.xml.rels><?xml version="1.0" encoding="UTF-8" standalone="yes"?><Relationships xmlns="http://schemas.openxmlformats.org/package/2006/relationships"><Relationship Id="rId11" Type="http://schemas.openxmlformats.org/officeDocument/2006/relationships/image" Target="../media/image72.png"/><Relationship Id="rId10" Type="http://schemas.openxmlformats.org/officeDocument/2006/relationships/image" Target="../media/image69.png"/><Relationship Id="rId12" Type="http://schemas.openxmlformats.org/officeDocument/2006/relationships/image" Target="../media/image82.png"/><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7.png"/><Relationship Id="rId4" Type="http://schemas.openxmlformats.org/officeDocument/2006/relationships/image" Target="../media/image78.png"/><Relationship Id="rId9" Type="http://schemas.openxmlformats.org/officeDocument/2006/relationships/image" Target="../media/image79.png"/><Relationship Id="rId5" Type="http://schemas.openxmlformats.org/officeDocument/2006/relationships/image" Target="../media/image73.png"/><Relationship Id="rId6" Type="http://schemas.openxmlformats.org/officeDocument/2006/relationships/image" Target="../media/image70.png"/><Relationship Id="rId7" Type="http://schemas.openxmlformats.org/officeDocument/2006/relationships/image" Target="../media/image81.png"/><Relationship Id="rId8" Type="http://schemas.openxmlformats.org/officeDocument/2006/relationships/image" Target="../media/image7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7.png"/><Relationship Id="rId4" Type="http://schemas.openxmlformats.org/officeDocument/2006/relationships/image" Target="../media/image75.png"/><Relationship Id="rId5" Type="http://schemas.openxmlformats.org/officeDocument/2006/relationships/image" Target="../media/image76.png"/><Relationship Id="rId6" Type="http://schemas.openxmlformats.org/officeDocument/2006/relationships/image" Target="../media/image80.png"/><Relationship Id="rId7" Type="http://schemas.openxmlformats.org/officeDocument/2006/relationships/image" Target="../media/image8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5" name="Google Shape;85;p13"/>
          <p:cNvSpPr txBox="1"/>
          <p:nvPr/>
        </p:nvSpPr>
        <p:spPr>
          <a:xfrm>
            <a:off x="2140505" y="2364134"/>
            <a:ext cx="7910988" cy="67047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4800" u="none" cap="none" strike="noStrike">
                <a:solidFill>
                  <a:srgbClr val="0F172A"/>
                </a:solidFill>
                <a:latin typeface="Plus Jakarta Sans"/>
                <a:ea typeface="Plus Jakarta Sans"/>
                <a:cs typeface="Plus Jakarta Sans"/>
                <a:sym typeface="Plus Jakarta Sans"/>
              </a:rPr>
              <a:t>Retail Intelligence System</a:t>
            </a:r>
            <a:endParaRPr/>
          </a:p>
        </p:txBody>
      </p:sp>
      <p:sp>
        <p:nvSpPr>
          <p:cNvPr id="86" name="Google Shape;86;p13"/>
          <p:cNvSpPr txBox="1"/>
          <p:nvPr/>
        </p:nvSpPr>
        <p:spPr>
          <a:xfrm>
            <a:off x="2328862" y="3225105"/>
            <a:ext cx="7534275" cy="36567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64748B"/>
                </a:solidFill>
                <a:latin typeface="Inter Medium"/>
                <a:ea typeface="Inter Medium"/>
                <a:cs typeface="Inter Medium"/>
                <a:sym typeface="Inter Medium"/>
              </a:rPr>
              <a:t>End-to-End Data Engineering, Machine Learning &amp; Business Analytics</a:t>
            </a:r>
            <a:endParaRPr/>
          </a:p>
        </p:txBody>
      </p:sp>
      <p:sp>
        <p:nvSpPr>
          <p:cNvPr id="87" name="Google Shape;87;p13"/>
          <p:cNvSpPr txBox="1"/>
          <p:nvPr/>
        </p:nvSpPr>
        <p:spPr>
          <a:xfrm>
            <a:off x="2328862" y="4067026"/>
            <a:ext cx="7534275" cy="27429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0284C7"/>
                </a:solidFill>
                <a:latin typeface="Inter Medium"/>
                <a:ea typeface="Inter Medium"/>
                <a:cs typeface="Inter Medium"/>
                <a:sym typeface="Inter Medium"/>
              </a:rPr>
              <a:t>SYRINE HOUSSEINI • ENIS • APRIL 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91" name="Shape 91"/>
        <p:cNvGrpSpPr/>
        <p:nvPr/>
      </p:nvGrpSpPr>
      <p:grpSpPr>
        <a:xfrm>
          <a:off x="0" y="0"/>
          <a:ext cx="0" cy="0"/>
          <a:chOff x="0" y="0"/>
          <a:chExt cx="0" cy="0"/>
        </a:xfrm>
      </p:grpSpPr>
      <p:pic>
        <p:nvPicPr>
          <p:cNvPr descr="image.png" id="92" name="Google Shape;92;p1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3" name="Google Shape;93;p14"/>
          <p:cNvSpPr txBox="1"/>
          <p:nvPr/>
        </p:nvSpPr>
        <p:spPr>
          <a:xfrm>
            <a:off x="4138612" y="4642118"/>
            <a:ext cx="3914700" cy="231000"/>
          </a:xfrm>
          <a:prstGeom prst="rect">
            <a:avLst/>
          </a:prstGeom>
          <a:noFill/>
          <a:ln>
            <a:noFill/>
          </a:ln>
        </p:spPr>
        <p:txBody>
          <a:bodyPr anchorCtr="0" anchor="t" bIns="0" lIns="314325"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75569"/>
                </a:solidFill>
                <a:latin typeface="Inter"/>
                <a:ea typeface="Inter"/>
                <a:cs typeface="Inter"/>
                <a:sym typeface="Inter"/>
              </a:rPr>
              <a:t>Interactive Web Deployment</a:t>
            </a:r>
            <a:endParaRPr/>
          </a:p>
        </p:txBody>
      </p:sp>
      <p:pic>
        <p:nvPicPr>
          <p:cNvPr descr="image.png" id="94" name="Google Shape;94;p14"/>
          <p:cNvPicPr preferRelativeResize="0"/>
          <p:nvPr/>
        </p:nvPicPr>
        <p:blipFill rotWithShape="1">
          <a:blip r:embed="rId4">
            <a:alphaModFix/>
          </a:blip>
          <a:srcRect b="0" l="0" r="0" t="0"/>
          <a:stretch/>
        </p:blipFill>
        <p:spPr>
          <a:xfrm>
            <a:off x="4138612" y="4389705"/>
            <a:ext cx="171450" cy="200025"/>
          </a:xfrm>
          <a:prstGeom prst="rect">
            <a:avLst/>
          </a:prstGeom>
          <a:noFill/>
          <a:ln>
            <a:noFill/>
          </a:ln>
        </p:spPr>
      </p:pic>
      <p:pic>
        <p:nvPicPr>
          <p:cNvPr descr="image.png" id="95" name="Google Shape;95;p14"/>
          <p:cNvPicPr preferRelativeResize="0"/>
          <p:nvPr/>
        </p:nvPicPr>
        <p:blipFill rotWithShape="1">
          <a:blip r:embed="rId4">
            <a:alphaModFix/>
          </a:blip>
          <a:srcRect b="0" l="0" r="0" t="0"/>
          <a:stretch/>
        </p:blipFill>
        <p:spPr>
          <a:xfrm>
            <a:off x="4138612" y="4694505"/>
            <a:ext cx="171450" cy="200025"/>
          </a:xfrm>
          <a:prstGeom prst="rect">
            <a:avLst/>
          </a:prstGeom>
          <a:noFill/>
          <a:ln>
            <a:noFill/>
          </a:ln>
        </p:spPr>
      </p:pic>
      <p:sp>
        <p:nvSpPr>
          <p:cNvPr id="96" name="Google Shape;96;p14"/>
          <p:cNvSpPr txBox="1"/>
          <p:nvPr/>
        </p:nvSpPr>
        <p:spPr>
          <a:xfrm>
            <a:off x="5030866" y="1285875"/>
            <a:ext cx="2130266" cy="6667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200" u="none" cap="none" strike="noStrike">
                <a:solidFill>
                  <a:srgbClr val="0284C7"/>
                </a:solidFill>
                <a:latin typeface="Plus Jakarta Sans"/>
                <a:ea typeface="Plus Jakarta Sans"/>
                <a:cs typeface="Plus Jakarta Sans"/>
                <a:sym typeface="Plus Jakarta Sans"/>
              </a:rPr>
              <a:t>Agenda</a:t>
            </a:r>
            <a:endParaRPr/>
          </a:p>
        </p:txBody>
      </p:sp>
      <p:sp>
        <p:nvSpPr>
          <p:cNvPr id="97" name="Google Shape;97;p14"/>
          <p:cNvSpPr/>
          <p:nvPr/>
        </p:nvSpPr>
        <p:spPr>
          <a:xfrm>
            <a:off x="5715000" y="2428875"/>
            <a:ext cx="762000" cy="38100"/>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8" name="Google Shape;98;p14"/>
          <p:cNvSpPr txBox="1"/>
          <p:nvPr/>
        </p:nvSpPr>
        <p:spPr>
          <a:xfrm>
            <a:off x="3595687" y="2752725"/>
            <a:ext cx="5000625" cy="304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475569"/>
                </a:solidFill>
                <a:latin typeface="Inter"/>
                <a:ea typeface="Inter"/>
                <a:cs typeface="Inter"/>
                <a:sym typeface="Inter"/>
              </a:rPr>
              <a:t>A structured walkthrough of our predictive ecosystem.</a:t>
            </a:r>
            <a:endParaRPr/>
          </a:p>
        </p:txBody>
      </p:sp>
      <p:sp>
        <p:nvSpPr>
          <p:cNvPr id="99" name="Google Shape;99;p14"/>
          <p:cNvSpPr txBox="1"/>
          <p:nvPr/>
        </p:nvSpPr>
        <p:spPr>
          <a:xfrm>
            <a:off x="4138612" y="3819525"/>
            <a:ext cx="3914775" cy="304800"/>
          </a:xfrm>
          <a:prstGeom prst="rect">
            <a:avLst/>
          </a:prstGeom>
          <a:noFill/>
          <a:ln>
            <a:noFill/>
          </a:ln>
        </p:spPr>
        <p:txBody>
          <a:bodyPr anchorCtr="0" anchor="t" bIns="0" lIns="314325"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75569"/>
                </a:solidFill>
                <a:latin typeface="Inter"/>
                <a:ea typeface="Inter"/>
                <a:cs typeface="Inter"/>
                <a:sym typeface="Inter"/>
              </a:rPr>
              <a:t>Introduction &amp; Objectives</a:t>
            </a:r>
            <a:endParaRPr/>
          </a:p>
        </p:txBody>
      </p:sp>
      <p:sp>
        <p:nvSpPr>
          <p:cNvPr id="100" name="Google Shape;100;p14"/>
          <p:cNvSpPr txBox="1"/>
          <p:nvPr/>
        </p:nvSpPr>
        <p:spPr>
          <a:xfrm>
            <a:off x="4138612" y="4124325"/>
            <a:ext cx="3914775" cy="304800"/>
          </a:xfrm>
          <a:prstGeom prst="rect">
            <a:avLst/>
          </a:prstGeom>
          <a:noFill/>
          <a:ln>
            <a:noFill/>
          </a:ln>
        </p:spPr>
        <p:txBody>
          <a:bodyPr anchorCtr="0" anchor="t" bIns="0" lIns="314325"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75569"/>
                </a:solidFill>
                <a:latin typeface="Inter"/>
                <a:ea typeface="Inter"/>
                <a:cs typeface="Inter"/>
                <a:sym typeface="Inter"/>
              </a:rPr>
              <a:t>Data Pipeline &amp; Preprocessing</a:t>
            </a:r>
            <a:endParaRPr/>
          </a:p>
        </p:txBody>
      </p:sp>
      <p:pic>
        <p:nvPicPr>
          <p:cNvPr descr="image.png" id="101" name="Google Shape;101;p14"/>
          <p:cNvPicPr preferRelativeResize="0"/>
          <p:nvPr/>
        </p:nvPicPr>
        <p:blipFill rotWithShape="1">
          <a:blip r:embed="rId4">
            <a:alphaModFix/>
          </a:blip>
          <a:srcRect b="0" l="0" r="0" t="0"/>
          <a:stretch/>
        </p:blipFill>
        <p:spPr>
          <a:xfrm>
            <a:off x="4138612" y="3871912"/>
            <a:ext cx="171450" cy="200025"/>
          </a:xfrm>
          <a:prstGeom prst="rect">
            <a:avLst/>
          </a:prstGeom>
          <a:noFill/>
          <a:ln>
            <a:noFill/>
          </a:ln>
        </p:spPr>
      </p:pic>
      <p:sp>
        <p:nvSpPr>
          <p:cNvPr id="102" name="Google Shape;102;p14"/>
          <p:cNvSpPr txBox="1"/>
          <p:nvPr/>
        </p:nvSpPr>
        <p:spPr>
          <a:xfrm>
            <a:off x="4138612" y="4386894"/>
            <a:ext cx="3914700" cy="231000"/>
          </a:xfrm>
          <a:prstGeom prst="rect">
            <a:avLst/>
          </a:prstGeom>
          <a:noFill/>
          <a:ln>
            <a:noFill/>
          </a:ln>
        </p:spPr>
        <p:txBody>
          <a:bodyPr anchorCtr="0" anchor="t" bIns="0" lIns="314325"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75569"/>
                </a:solidFill>
                <a:latin typeface="Inter"/>
                <a:ea typeface="Inter"/>
                <a:cs typeface="Inter"/>
                <a:sym typeface="Inter"/>
              </a:rPr>
              <a:t>Predictive Modeling (Churn &amp; Revenue)</a:t>
            </a:r>
            <a:endParaRPr/>
          </a:p>
        </p:txBody>
      </p:sp>
      <p:pic>
        <p:nvPicPr>
          <p:cNvPr descr="image.png" id="103" name="Google Shape;103;p14"/>
          <p:cNvPicPr preferRelativeResize="0"/>
          <p:nvPr/>
        </p:nvPicPr>
        <p:blipFill rotWithShape="1">
          <a:blip r:embed="rId4">
            <a:alphaModFix/>
          </a:blip>
          <a:srcRect b="0" l="0" r="0" t="0"/>
          <a:stretch/>
        </p:blipFill>
        <p:spPr>
          <a:xfrm>
            <a:off x="4138612" y="4176712"/>
            <a:ext cx="171450" cy="2000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07" name="Shape 107"/>
        <p:cNvGrpSpPr/>
        <p:nvPr/>
      </p:nvGrpSpPr>
      <p:grpSpPr>
        <a:xfrm>
          <a:off x="0" y="0"/>
          <a:ext cx="0" cy="0"/>
          <a:chOff x="0" y="0"/>
          <a:chExt cx="0" cy="0"/>
        </a:xfrm>
      </p:grpSpPr>
      <p:pic>
        <p:nvPicPr>
          <p:cNvPr descr="image.png" id="108" name="Google Shape;108;p1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09" name="Google Shape;109;p15"/>
          <p:cNvPicPr preferRelativeResize="0"/>
          <p:nvPr/>
        </p:nvPicPr>
        <p:blipFill rotWithShape="1">
          <a:blip r:embed="rId4">
            <a:alphaModFix/>
          </a:blip>
          <a:srcRect b="0" l="0" r="0" t="0"/>
          <a:stretch/>
        </p:blipFill>
        <p:spPr>
          <a:xfrm>
            <a:off x="6381750" y="1981200"/>
            <a:ext cx="5238750" cy="3810000"/>
          </a:xfrm>
          <a:prstGeom prst="rect">
            <a:avLst/>
          </a:prstGeom>
          <a:noFill/>
          <a:ln>
            <a:noFill/>
          </a:ln>
        </p:spPr>
      </p:pic>
      <p:sp>
        <p:nvSpPr>
          <p:cNvPr id="110" name="Google Shape;110;p15"/>
          <p:cNvSpPr txBox="1"/>
          <p:nvPr/>
        </p:nvSpPr>
        <p:spPr>
          <a:xfrm>
            <a:off x="571500" y="1981200"/>
            <a:ext cx="5500687" cy="3333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0F172A"/>
                </a:solidFill>
                <a:latin typeface="Plus Jakarta Sans SemiBold"/>
                <a:ea typeface="Plus Jakarta Sans SemiBold"/>
                <a:cs typeface="Plus Jakarta Sans SemiBold"/>
                <a:sym typeface="Plus Jakarta Sans SemiBold"/>
              </a:rPr>
              <a:t>Problem Statement</a:t>
            </a:r>
            <a:endParaRPr/>
          </a:p>
        </p:txBody>
      </p:sp>
      <p:sp>
        <p:nvSpPr>
          <p:cNvPr id="111" name="Google Shape;111;p15"/>
          <p:cNvSpPr txBox="1"/>
          <p:nvPr/>
        </p:nvSpPr>
        <p:spPr>
          <a:xfrm>
            <a:off x="571500" y="2457450"/>
            <a:ext cx="5238750" cy="121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75569"/>
                </a:solidFill>
                <a:latin typeface="Inter"/>
                <a:ea typeface="Inter"/>
                <a:cs typeface="Inter"/>
                <a:sym typeface="Inter"/>
              </a:rPr>
              <a:t>Retail industries generate massive volumes of transactional data. However, many organizations lack integrated systems to translate this data into actionable intelligence.</a:t>
            </a:r>
            <a:endParaRPr/>
          </a:p>
        </p:txBody>
      </p:sp>
      <p:sp>
        <p:nvSpPr>
          <p:cNvPr id="112" name="Google Shape;112;p15"/>
          <p:cNvSpPr txBox="1"/>
          <p:nvPr/>
        </p:nvSpPr>
        <p:spPr>
          <a:xfrm>
            <a:off x="571500" y="3829050"/>
            <a:ext cx="523875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75569"/>
                </a:solidFill>
                <a:latin typeface="Inter"/>
                <a:ea typeface="Inter"/>
                <a:cs typeface="Inter"/>
                <a:sym typeface="Inter"/>
              </a:rPr>
              <a:t>We face three core analytical challenges:</a:t>
            </a:r>
            <a:endParaRPr/>
          </a:p>
        </p:txBody>
      </p:sp>
      <p:pic>
        <p:nvPicPr>
          <p:cNvPr descr="image.png" id="113" name="Google Shape;113;p15"/>
          <p:cNvPicPr preferRelativeResize="0"/>
          <p:nvPr/>
        </p:nvPicPr>
        <p:blipFill rotWithShape="1">
          <a:blip r:embed="rId5">
            <a:alphaModFix/>
          </a:blip>
          <a:srcRect b="0" l="0" r="0" t="0"/>
          <a:stretch/>
        </p:blipFill>
        <p:spPr>
          <a:xfrm>
            <a:off x="6381750" y="1981200"/>
            <a:ext cx="5238750" cy="3810000"/>
          </a:xfrm>
          <a:prstGeom prst="rect">
            <a:avLst/>
          </a:prstGeom>
          <a:noFill/>
          <a:ln>
            <a:noFill/>
          </a:ln>
        </p:spPr>
      </p:pic>
      <p:sp>
        <p:nvSpPr>
          <p:cNvPr id="114" name="Google Shape;114;p15"/>
          <p:cNvSpPr txBox="1"/>
          <p:nvPr/>
        </p:nvSpPr>
        <p:spPr>
          <a:xfrm>
            <a:off x="1047750" y="4324350"/>
            <a:ext cx="47625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0F172A"/>
                </a:solidFill>
                <a:latin typeface="Inter SemiBold"/>
                <a:ea typeface="Inter SemiBold"/>
                <a:cs typeface="Inter SemiBold"/>
                <a:sym typeface="Inter SemiBold"/>
              </a:rPr>
              <a:t>Targeting:</a:t>
            </a:r>
            <a:r>
              <a:rPr b="0" i="0" lang="en-US" sz="1500" u="none" cap="none" strike="noStrike">
                <a:solidFill>
                  <a:srgbClr val="475569"/>
                </a:solidFill>
                <a:latin typeface="Inter"/>
                <a:ea typeface="Inter"/>
                <a:cs typeface="Inter"/>
                <a:sym typeface="Inter"/>
              </a:rPr>
              <a:t> Identifying distinct customer groups.</a:t>
            </a:r>
            <a:endParaRPr/>
          </a:p>
        </p:txBody>
      </p:sp>
      <p:sp>
        <p:nvSpPr>
          <p:cNvPr id="115" name="Google Shape;115;p15"/>
          <p:cNvSpPr txBox="1"/>
          <p:nvPr/>
        </p:nvSpPr>
        <p:spPr>
          <a:xfrm>
            <a:off x="1047750" y="4867275"/>
            <a:ext cx="47625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0F172A"/>
                </a:solidFill>
                <a:latin typeface="Inter SemiBold"/>
                <a:ea typeface="Inter SemiBold"/>
                <a:cs typeface="Inter SemiBold"/>
                <a:sym typeface="Inter SemiBold"/>
              </a:rPr>
              <a:t>Retention:</a:t>
            </a:r>
            <a:r>
              <a:rPr b="0" i="0" lang="en-US" sz="1500" u="none" cap="none" strike="noStrike">
                <a:solidFill>
                  <a:srgbClr val="475569"/>
                </a:solidFill>
                <a:latin typeface="Inter"/>
                <a:ea typeface="Inter"/>
                <a:cs typeface="Inter"/>
                <a:sym typeface="Inter"/>
              </a:rPr>
              <a:t> Predicting churn before it occurs.</a:t>
            </a:r>
            <a:endParaRPr/>
          </a:p>
        </p:txBody>
      </p:sp>
      <p:sp>
        <p:nvSpPr>
          <p:cNvPr id="116" name="Google Shape;116;p15"/>
          <p:cNvSpPr txBox="1"/>
          <p:nvPr/>
        </p:nvSpPr>
        <p:spPr>
          <a:xfrm>
            <a:off x="1047750" y="5410200"/>
            <a:ext cx="47625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0F172A"/>
                </a:solidFill>
                <a:latin typeface="Inter SemiBold"/>
                <a:ea typeface="Inter SemiBold"/>
                <a:cs typeface="Inter SemiBold"/>
                <a:sym typeface="Inter SemiBold"/>
              </a:rPr>
              <a:t>Forecasting:</a:t>
            </a:r>
            <a:r>
              <a:rPr b="0" i="0" lang="en-US" sz="1500" u="none" cap="none" strike="noStrike">
                <a:solidFill>
                  <a:srgbClr val="475569"/>
                </a:solidFill>
                <a:latin typeface="Inter"/>
                <a:ea typeface="Inter"/>
                <a:cs typeface="Inter"/>
                <a:sym typeface="Inter"/>
              </a:rPr>
              <a:t> Accurately predicting lifetime revenue.</a:t>
            </a:r>
            <a:endParaRPr/>
          </a:p>
        </p:txBody>
      </p:sp>
      <p:pic>
        <p:nvPicPr>
          <p:cNvPr descr="image.png" id="117" name="Google Shape;117;p15"/>
          <p:cNvPicPr preferRelativeResize="0"/>
          <p:nvPr/>
        </p:nvPicPr>
        <p:blipFill rotWithShape="1">
          <a:blip r:embed="rId6">
            <a:alphaModFix/>
          </a:blip>
          <a:srcRect b="0" l="0" r="0" t="0"/>
          <a:stretch/>
        </p:blipFill>
        <p:spPr>
          <a:xfrm>
            <a:off x="571500" y="4352925"/>
            <a:ext cx="228600" cy="247650"/>
          </a:xfrm>
          <a:prstGeom prst="rect">
            <a:avLst/>
          </a:prstGeom>
          <a:noFill/>
          <a:ln>
            <a:noFill/>
          </a:ln>
        </p:spPr>
      </p:pic>
      <p:pic>
        <p:nvPicPr>
          <p:cNvPr descr="image.png" id="118" name="Google Shape;118;p15"/>
          <p:cNvPicPr preferRelativeResize="0"/>
          <p:nvPr/>
        </p:nvPicPr>
        <p:blipFill rotWithShape="1">
          <a:blip r:embed="rId7">
            <a:alphaModFix/>
          </a:blip>
          <a:srcRect b="0" l="0" r="0" t="0"/>
          <a:stretch/>
        </p:blipFill>
        <p:spPr>
          <a:xfrm>
            <a:off x="571500" y="4895850"/>
            <a:ext cx="285750" cy="247650"/>
          </a:xfrm>
          <a:prstGeom prst="rect">
            <a:avLst/>
          </a:prstGeom>
          <a:noFill/>
          <a:ln>
            <a:noFill/>
          </a:ln>
        </p:spPr>
      </p:pic>
      <p:pic>
        <p:nvPicPr>
          <p:cNvPr descr="image.png" id="119" name="Google Shape;119;p15"/>
          <p:cNvPicPr preferRelativeResize="0"/>
          <p:nvPr/>
        </p:nvPicPr>
        <p:blipFill rotWithShape="1">
          <a:blip r:embed="rId8">
            <a:alphaModFix/>
          </a:blip>
          <a:srcRect b="0" l="0" r="0" t="0"/>
          <a:stretch/>
        </p:blipFill>
        <p:spPr>
          <a:xfrm>
            <a:off x="571500" y="5438775"/>
            <a:ext cx="228600" cy="247650"/>
          </a:xfrm>
          <a:prstGeom prst="rect">
            <a:avLst/>
          </a:prstGeom>
          <a:noFill/>
          <a:ln>
            <a:noFill/>
          </a:ln>
        </p:spPr>
      </p:pic>
      <p:sp>
        <p:nvSpPr>
          <p:cNvPr id="120" name="Google Shape;120;p15"/>
          <p:cNvSpPr txBox="1"/>
          <p:nvPr/>
        </p:nvSpPr>
        <p:spPr>
          <a:xfrm>
            <a:off x="571500" y="571500"/>
            <a:ext cx="11601450"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0284C7"/>
                </a:solidFill>
                <a:latin typeface="Plus Jakarta Sans"/>
                <a:ea typeface="Plus Jakarta Sans"/>
                <a:cs typeface="Plus Jakarta Sans"/>
                <a:sym typeface="Plus Jakarta Sans"/>
              </a:rPr>
              <a:t>The Retail Analytics Challenge</a:t>
            </a:r>
            <a:endParaRPr/>
          </a:p>
        </p:txBody>
      </p:sp>
      <p:sp>
        <p:nvSpPr>
          <p:cNvPr id="121" name="Google Shape;121;p15"/>
          <p:cNvSpPr/>
          <p:nvPr/>
        </p:nvSpPr>
        <p:spPr>
          <a:xfrm>
            <a:off x="571500" y="1247775"/>
            <a:ext cx="110490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25" name="Shape 125"/>
        <p:cNvGrpSpPr/>
        <p:nvPr/>
      </p:nvGrpSpPr>
      <p:grpSpPr>
        <a:xfrm>
          <a:off x="0" y="0"/>
          <a:ext cx="0" cy="0"/>
          <a:chOff x="0" y="0"/>
          <a:chExt cx="0" cy="0"/>
        </a:xfrm>
      </p:grpSpPr>
      <p:pic>
        <p:nvPicPr>
          <p:cNvPr descr="image.png" id="126" name="Google Shape;126;p1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27" name="Google Shape;127;p16"/>
          <p:cNvPicPr preferRelativeResize="0"/>
          <p:nvPr/>
        </p:nvPicPr>
        <p:blipFill rotWithShape="1">
          <a:blip r:embed="rId4">
            <a:alphaModFix/>
          </a:blip>
          <a:srcRect b="0" l="0" r="0" t="0"/>
          <a:stretch/>
        </p:blipFill>
        <p:spPr>
          <a:xfrm>
            <a:off x="571500" y="2166044"/>
            <a:ext cx="3492400" cy="3602235"/>
          </a:xfrm>
          <a:prstGeom prst="rect">
            <a:avLst/>
          </a:prstGeom>
          <a:noFill/>
          <a:ln>
            <a:noFill/>
          </a:ln>
        </p:spPr>
      </p:pic>
      <p:pic>
        <p:nvPicPr>
          <p:cNvPr descr="image.png" id="128" name="Google Shape;128;p16"/>
          <p:cNvPicPr preferRelativeResize="0"/>
          <p:nvPr/>
        </p:nvPicPr>
        <p:blipFill rotWithShape="1">
          <a:blip r:embed="rId5">
            <a:alphaModFix/>
          </a:blip>
          <a:srcRect b="0" l="0" r="0" t="0"/>
          <a:stretch/>
        </p:blipFill>
        <p:spPr>
          <a:xfrm>
            <a:off x="4349650" y="2166044"/>
            <a:ext cx="3492549" cy="3602235"/>
          </a:xfrm>
          <a:prstGeom prst="rect">
            <a:avLst/>
          </a:prstGeom>
          <a:noFill/>
          <a:ln>
            <a:noFill/>
          </a:ln>
        </p:spPr>
      </p:pic>
      <p:pic>
        <p:nvPicPr>
          <p:cNvPr descr="image.png" id="129" name="Google Shape;129;p16"/>
          <p:cNvPicPr preferRelativeResize="0"/>
          <p:nvPr/>
        </p:nvPicPr>
        <p:blipFill rotWithShape="1">
          <a:blip r:embed="rId6">
            <a:alphaModFix/>
          </a:blip>
          <a:srcRect b="0" l="0" r="0" t="0"/>
          <a:stretch/>
        </p:blipFill>
        <p:spPr>
          <a:xfrm>
            <a:off x="8127950" y="2166044"/>
            <a:ext cx="3492400" cy="3602235"/>
          </a:xfrm>
          <a:prstGeom prst="rect">
            <a:avLst/>
          </a:prstGeom>
          <a:noFill/>
          <a:ln>
            <a:noFill/>
          </a:ln>
        </p:spPr>
      </p:pic>
      <p:pic>
        <p:nvPicPr>
          <p:cNvPr descr="image.png" id="130" name="Google Shape;130;p16"/>
          <p:cNvPicPr preferRelativeResize="0"/>
          <p:nvPr/>
        </p:nvPicPr>
        <p:blipFill rotWithShape="1">
          <a:blip r:embed="rId7">
            <a:alphaModFix/>
          </a:blip>
          <a:srcRect b="0" l="0" r="0" t="0"/>
          <a:stretch/>
        </p:blipFill>
        <p:spPr>
          <a:xfrm>
            <a:off x="1889075" y="2556569"/>
            <a:ext cx="857250" cy="857250"/>
          </a:xfrm>
          <a:prstGeom prst="rect">
            <a:avLst/>
          </a:prstGeom>
          <a:noFill/>
          <a:ln>
            <a:noFill/>
          </a:ln>
        </p:spPr>
      </p:pic>
      <p:sp>
        <p:nvSpPr>
          <p:cNvPr id="131" name="Google Shape;131;p16"/>
          <p:cNvSpPr txBox="1"/>
          <p:nvPr/>
        </p:nvSpPr>
        <p:spPr>
          <a:xfrm>
            <a:off x="1167556" y="3651944"/>
            <a:ext cx="2300287" cy="3333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0F172A"/>
                </a:solidFill>
                <a:latin typeface="Plus Jakarta Sans SemiBold"/>
                <a:ea typeface="Plus Jakarta Sans SemiBold"/>
                <a:cs typeface="Plus Jakarta Sans SemiBold"/>
                <a:sym typeface="Plus Jakarta Sans SemiBold"/>
              </a:rPr>
              <a:t>Scalable Pipeline</a:t>
            </a:r>
            <a:endParaRPr/>
          </a:p>
        </p:txBody>
      </p:sp>
      <p:sp>
        <p:nvSpPr>
          <p:cNvPr id="132" name="Google Shape;132;p16"/>
          <p:cNvSpPr txBox="1"/>
          <p:nvPr/>
        </p:nvSpPr>
        <p:spPr>
          <a:xfrm>
            <a:off x="866775" y="4128194"/>
            <a:ext cx="2901850" cy="109716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475569"/>
                </a:solidFill>
                <a:latin typeface="Inter"/>
                <a:ea typeface="Inter"/>
                <a:cs typeface="Inter"/>
                <a:sym typeface="Inter"/>
              </a:rPr>
              <a:t>Build a robust data engineering framework to ingest, clean, and preprocess retail transactions seamlessly.</a:t>
            </a:r>
            <a:endParaRPr/>
          </a:p>
        </p:txBody>
      </p:sp>
      <p:pic>
        <p:nvPicPr>
          <p:cNvPr descr="image.png" id="133" name="Google Shape;133;p16"/>
          <p:cNvPicPr preferRelativeResize="0"/>
          <p:nvPr/>
        </p:nvPicPr>
        <p:blipFill rotWithShape="1">
          <a:blip r:embed="rId8">
            <a:alphaModFix/>
          </a:blip>
          <a:srcRect b="0" l="0" r="0" t="0"/>
          <a:stretch/>
        </p:blipFill>
        <p:spPr>
          <a:xfrm>
            <a:off x="5667226" y="2556569"/>
            <a:ext cx="857250" cy="857250"/>
          </a:xfrm>
          <a:prstGeom prst="rect">
            <a:avLst/>
          </a:prstGeom>
          <a:noFill/>
          <a:ln>
            <a:noFill/>
          </a:ln>
        </p:spPr>
      </p:pic>
      <p:sp>
        <p:nvSpPr>
          <p:cNvPr id="134" name="Google Shape;134;p16"/>
          <p:cNvSpPr txBox="1"/>
          <p:nvPr/>
        </p:nvSpPr>
        <p:spPr>
          <a:xfrm>
            <a:off x="4885699" y="3651944"/>
            <a:ext cx="2420302" cy="3333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0F172A"/>
                </a:solidFill>
                <a:latin typeface="Plus Jakarta Sans SemiBold"/>
                <a:ea typeface="Plus Jakarta Sans SemiBold"/>
                <a:cs typeface="Plus Jakarta Sans SemiBold"/>
                <a:sym typeface="Plus Jakarta Sans SemiBold"/>
              </a:rPr>
              <a:t>Predictive Models</a:t>
            </a:r>
            <a:endParaRPr/>
          </a:p>
        </p:txBody>
      </p:sp>
      <p:sp>
        <p:nvSpPr>
          <p:cNvPr id="135" name="Google Shape;135;p16"/>
          <p:cNvSpPr txBox="1"/>
          <p:nvPr/>
        </p:nvSpPr>
        <p:spPr>
          <a:xfrm>
            <a:off x="4644925" y="4128194"/>
            <a:ext cx="2901999" cy="109716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475569"/>
                </a:solidFill>
                <a:latin typeface="Inter"/>
                <a:ea typeface="Inter"/>
                <a:cs typeface="Inter"/>
                <a:sym typeface="Inter"/>
              </a:rPr>
              <a:t>Develop robust ML models for classification (churn) and regression (revenue), alongside unsupervised clustering.</a:t>
            </a:r>
            <a:endParaRPr/>
          </a:p>
        </p:txBody>
      </p:sp>
      <p:pic>
        <p:nvPicPr>
          <p:cNvPr descr="image.png" id="136" name="Google Shape;136;p16"/>
          <p:cNvPicPr preferRelativeResize="0"/>
          <p:nvPr/>
        </p:nvPicPr>
        <p:blipFill rotWithShape="1">
          <a:blip r:embed="rId9">
            <a:alphaModFix/>
          </a:blip>
          <a:srcRect b="0" l="0" r="0" t="0"/>
          <a:stretch/>
        </p:blipFill>
        <p:spPr>
          <a:xfrm>
            <a:off x="9445525" y="2556569"/>
            <a:ext cx="857250" cy="857250"/>
          </a:xfrm>
          <a:prstGeom prst="rect">
            <a:avLst/>
          </a:prstGeom>
          <a:noFill/>
          <a:ln>
            <a:noFill/>
          </a:ln>
        </p:spPr>
      </p:pic>
      <p:sp>
        <p:nvSpPr>
          <p:cNvPr id="137" name="Google Shape;137;p16"/>
          <p:cNvSpPr txBox="1"/>
          <p:nvPr/>
        </p:nvSpPr>
        <p:spPr>
          <a:xfrm>
            <a:off x="9034045" y="3651944"/>
            <a:ext cx="1680210" cy="3333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0F172A"/>
                </a:solidFill>
                <a:latin typeface="Plus Jakarta Sans SemiBold"/>
                <a:ea typeface="Plus Jakarta Sans SemiBold"/>
                <a:cs typeface="Plus Jakarta Sans SemiBold"/>
                <a:sym typeface="Plus Jakarta Sans SemiBold"/>
              </a:rPr>
              <a:t>Deployment</a:t>
            </a:r>
            <a:endParaRPr/>
          </a:p>
        </p:txBody>
      </p:sp>
      <p:sp>
        <p:nvSpPr>
          <p:cNvPr id="138" name="Google Shape;138;p16"/>
          <p:cNvSpPr txBox="1"/>
          <p:nvPr/>
        </p:nvSpPr>
        <p:spPr>
          <a:xfrm>
            <a:off x="8423225" y="4128194"/>
            <a:ext cx="2901850" cy="109716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475569"/>
                </a:solidFill>
                <a:latin typeface="Inter"/>
                <a:ea typeface="Inter"/>
                <a:cs typeface="Inter"/>
                <a:sym typeface="Inter"/>
              </a:rPr>
              <a:t>Deploy an interactive, Flask-based dashboard to provide real-time business insights for decision-makers.</a:t>
            </a:r>
            <a:endParaRPr/>
          </a:p>
        </p:txBody>
      </p:sp>
      <p:pic>
        <p:nvPicPr>
          <p:cNvPr descr="image.png" id="139" name="Google Shape;139;p16"/>
          <p:cNvPicPr preferRelativeResize="0"/>
          <p:nvPr/>
        </p:nvPicPr>
        <p:blipFill rotWithShape="1">
          <a:blip r:embed="rId10">
            <a:alphaModFix/>
          </a:blip>
          <a:srcRect b="0" l="0" r="0" t="0"/>
          <a:stretch/>
        </p:blipFill>
        <p:spPr>
          <a:xfrm>
            <a:off x="2089100" y="2756594"/>
            <a:ext cx="457200" cy="457200"/>
          </a:xfrm>
          <a:prstGeom prst="rect">
            <a:avLst/>
          </a:prstGeom>
          <a:noFill/>
          <a:ln>
            <a:noFill/>
          </a:ln>
        </p:spPr>
      </p:pic>
      <p:pic>
        <p:nvPicPr>
          <p:cNvPr descr="image.png" id="140" name="Google Shape;140;p16"/>
          <p:cNvPicPr preferRelativeResize="0"/>
          <p:nvPr/>
        </p:nvPicPr>
        <p:blipFill rotWithShape="1">
          <a:blip r:embed="rId11">
            <a:alphaModFix/>
          </a:blip>
          <a:srcRect b="0" l="0" r="0" t="0"/>
          <a:stretch/>
        </p:blipFill>
        <p:spPr>
          <a:xfrm>
            <a:off x="5867251" y="2756594"/>
            <a:ext cx="457200" cy="457200"/>
          </a:xfrm>
          <a:prstGeom prst="rect">
            <a:avLst/>
          </a:prstGeom>
          <a:noFill/>
          <a:ln>
            <a:noFill/>
          </a:ln>
        </p:spPr>
      </p:pic>
      <p:pic>
        <p:nvPicPr>
          <p:cNvPr descr="image.png" id="141" name="Google Shape;141;p16"/>
          <p:cNvPicPr preferRelativeResize="0"/>
          <p:nvPr/>
        </p:nvPicPr>
        <p:blipFill rotWithShape="1">
          <a:blip r:embed="rId12">
            <a:alphaModFix/>
          </a:blip>
          <a:srcRect b="0" l="0" r="0" t="0"/>
          <a:stretch/>
        </p:blipFill>
        <p:spPr>
          <a:xfrm>
            <a:off x="9588400" y="2756594"/>
            <a:ext cx="571500" cy="457200"/>
          </a:xfrm>
          <a:prstGeom prst="rect">
            <a:avLst/>
          </a:prstGeom>
          <a:noFill/>
          <a:ln>
            <a:noFill/>
          </a:ln>
        </p:spPr>
      </p:pic>
      <p:sp>
        <p:nvSpPr>
          <p:cNvPr id="142" name="Google Shape;142;p16"/>
          <p:cNvSpPr txBox="1"/>
          <p:nvPr/>
        </p:nvSpPr>
        <p:spPr>
          <a:xfrm>
            <a:off x="571500" y="571500"/>
            <a:ext cx="11601450"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0284C7"/>
                </a:solidFill>
                <a:latin typeface="Plus Jakarta Sans"/>
                <a:ea typeface="Plus Jakarta Sans"/>
                <a:cs typeface="Plus Jakarta Sans"/>
                <a:sym typeface="Plus Jakarta Sans"/>
              </a:rPr>
              <a:t>System Objectives</a:t>
            </a:r>
            <a:endParaRPr/>
          </a:p>
        </p:txBody>
      </p:sp>
      <p:sp>
        <p:nvSpPr>
          <p:cNvPr id="143" name="Google Shape;143;p16"/>
          <p:cNvSpPr/>
          <p:nvPr/>
        </p:nvSpPr>
        <p:spPr>
          <a:xfrm>
            <a:off x="571500" y="1247775"/>
            <a:ext cx="110490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47" name="Shape 147"/>
        <p:cNvGrpSpPr/>
        <p:nvPr/>
      </p:nvGrpSpPr>
      <p:grpSpPr>
        <a:xfrm>
          <a:off x="0" y="0"/>
          <a:ext cx="0" cy="0"/>
          <a:chOff x="0" y="0"/>
          <a:chExt cx="0" cy="0"/>
        </a:xfrm>
      </p:grpSpPr>
      <p:pic>
        <p:nvPicPr>
          <p:cNvPr descr="image.png" id="148" name="Google Shape;148;p1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49" name="Google Shape;149;p17"/>
          <p:cNvPicPr preferRelativeResize="0"/>
          <p:nvPr/>
        </p:nvPicPr>
        <p:blipFill rotWithShape="1">
          <a:blip r:embed="rId4">
            <a:alphaModFix/>
          </a:blip>
          <a:srcRect b="0" l="0" r="0" t="0"/>
          <a:stretch/>
        </p:blipFill>
        <p:spPr>
          <a:xfrm>
            <a:off x="571500" y="1719262"/>
            <a:ext cx="5238750" cy="4495800"/>
          </a:xfrm>
          <a:prstGeom prst="rect">
            <a:avLst/>
          </a:prstGeom>
          <a:noFill/>
          <a:ln>
            <a:noFill/>
          </a:ln>
        </p:spPr>
      </p:pic>
      <p:pic>
        <p:nvPicPr>
          <p:cNvPr descr="image.png" id="150" name="Google Shape;150;p17"/>
          <p:cNvPicPr preferRelativeResize="0"/>
          <p:nvPr/>
        </p:nvPicPr>
        <p:blipFill rotWithShape="1">
          <a:blip r:embed="rId5">
            <a:alphaModFix/>
          </a:blip>
          <a:srcRect b="0" l="0" r="0" t="0"/>
          <a:stretch/>
        </p:blipFill>
        <p:spPr>
          <a:xfrm>
            <a:off x="6381750" y="1719262"/>
            <a:ext cx="5238750" cy="4495800"/>
          </a:xfrm>
          <a:prstGeom prst="rect">
            <a:avLst/>
          </a:prstGeom>
          <a:noFill/>
          <a:ln>
            <a:noFill/>
          </a:ln>
        </p:spPr>
      </p:pic>
      <p:sp>
        <p:nvSpPr>
          <p:cNvPr id="151" name="Google Shape;151;p17"/>
          <p:cNvSpPr txBox="1"/>
          <p:nvPr/>
        </p:nvSpPr>
        <p:spPr>
          <a:xfrm>
            <a:off x="962025" y="2109787"/>
            <a:ext cx="4680585" cy="3333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0F172A"/>
                </a:solidFill>
                <a:latin typeface="Plus Jakarta Sans SemiBold"/>
                <a:ea typeface="Plus Jakarta Sans SemiBold"/>
                <a:cs typeface="Plus Jakarta Sans SemiBold"/>
                <a:sym typeface="Plus Jakarta Sans SemiBold"/>
              </a:rPr>
              <a:t>Key Features</a:t>
            </a:r>
            <a:endParaRPr/>
          </a:p>
        </p:txBody>
      </p:sp>
      <p:sp>
        <p:nvSpPr>
          <p:cNvPr id="152" name="Google Shape;152;p17"/>
          <p:cNvSpPr txBox="1"/>
          <p:nvPr/>
        </p:nvSpPr>
        <p:spPr>
          <a:xfrm>
            <a:off x="962025" y="2586037"/>
            <a:ext cx="44577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75569"/>
                </a:solidFill>
                <a:latin typeface="Inter"/>
                <a:ea typeface="Inter"/>
                <a:cs typeface="Inter"/>
                <a:sym typeface="Inter"/>
              </a:rPr>
              <a:t>The dataset captures comprehensive retail transactions and customer behavior patterns.</a:t>
            </a:r>
            <a:endParaRPr/>
          </a:p>
        </p:txBody>
      </p:sp>
      <p:sp>
        <p:nvSpPr>
          <p:cNvPr id="153" name="Google Shape;153;p17"/>
          <p:cNvSpPr txBox="1"/>
          <p:nvPr/>
        </p:nvSpPr>
        <p:spPr>
          <a:xfrm>
            <a:off x="6772275" y="2109787"/>
            <a:ext cx="4680585" cy="3333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0F172A"/>
                </a:solidFill>
                <a:latin typeface="Plus Jakarta Sans SemiBold"/>
                <a:ea typeface="Plus Jakarta Sans SemiBold"/>
                <a:cs typeface="Plus Jakarta Sans SemiBold"/>
                <a:sym typeface="Plus Jakarta Sans SemiBold"/>
              </a:rPr>
              <a:t>Target Variables</a:t>
            </a:r>
            <a:endParaRPr/>
          </a:p>
        </p:txBody>
      </p:sp>
      <p:sp>
        <p:nvSpPr>
          <p:cNvPr id="154" name="Google Shape;154;p17"/>
          <p:cNvSpPr txBox="1"/>
          <p:nvPr/>
        </p:nvSpPr>
        <p:spPr>
          <a:xfrm>
            <a:off x="6772275" y="2586037"/>
            <a:ext cx="44577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75569"/>
                </a:solidFill>
                <a:latin typeface="Inter"/>
                <a:ea typeface="Inter"/>
                <a:cs typeface="Inter"/>
                <a:sym typeface="Inter"/>
              </a:rPr>
              <a:t>We aim to predict two distinct outcomes to drive business value.</a:t>
            </a:r>
            <a:endParaRPr/>
          </a:p>
        </p:txBody>
      </p:sp>
      <p:sp>
        <p:nvSpPr>
          <p:cNvPr id="155" name="Google Shape;155;p17"/>
          <p:cNvSpPr txBox="1"/>
          <p:nvPr/>
        </p:nvSpPr>
        <p:spPr>
          <a:xfrm>
            <a:off x="1095375" y="3348037"/>
            <a:ext cx="1047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475569"/>
                </a:solidFill>
                <a:latin typeface="Inter"/>
                <a:ea typeface="Inter"/>
                <a:cs typeface="Inter"/>
                <a:sym typeface="Inter"/>
              </a:rPr>
              <a:t>•</a:t>
            </a:r>
            <a:endParaRPr/>
          </a:p>
        </p:txBody>
      </p:sp>
      <p:sp>
        <p:nvSpPr>
          <p:cNvPr id="156" name="Google Shape;156;p17"/>
          <p:cNvSpPr txBox="1"/>
          <p:nvPr/>
        </p:nvSpPr>
        <p:spPr>
          <a:xfrm>
            <a:off x="1200150" y="3348037"/>
            <a:ext cx="4219575" cy="304800"/>
          </a:xfrm>
          <a:prstGeom prst="rect">
            <a:avLst/>
          </a:prstGeom>
          <a:noFill/>
          <a:ln>
            <a:noFill/>
          </a:ln>
        </p:spPr>
        <p:txBody>
          <a:bodyPr anchorCtr="0" anchor="t" bIns="0" lIns="104775"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475569"/>
                </a:solidFill>
                <a:latin typeface="Inter"/>
                <a:ea typeface="Inter"/>
                <a:cs typeface="Inter"/>
                <a:sym typeface="Inter"/>
              </a:rPr>
              <a:t>CustomerID:</a:t>
            </a:r>
            <a:r>
              <a:rPr b="0" i="0" lang="en-US" sz="1500" u="none" cap="none" strike="noStrike">
                <a:solidFill>
                  <a:srgbClr val="475569"/>
                </a:solidFill>
                <a:latin typeface="Inter"/>
                <a:ea typeface="Inter"/>
                <a:cs typeface="Inter"/>
                <a:sym typeface="Inter"/>
              </a:rPr>
              <a:t> Unique identifier</a:t>
            </a:r>
            <a:endParaRPr/>
          </a:p>
        </p:txBody>
      </p:sp>
      <p:sp>
        <p:nvSpPr>
          <p:cNvPr id="157" name="Google Shape;157;p17"/>
          <p:cNvSpPr txBox="1"/>
          <p:nvPr/>
        </p:nvSpPr>
        <p:spPr>
          <a:xfrm>
            <a:off x="1095375" y="3843337"/>
            <a:ext cx="1047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475569"/>
                </a:solidFill>
                <a:latin typeface="Inter"/>
                <a:ea typeface="Inter"/>
                <a:cs typeface="Inter"/>
                <a:sym typeface="Inter"/>
              </a:rPr>
              <a:t>•</a:t>
            </a:r>
            <a:endParaRPr/>
          </a:p>
        </p:txBody>
      </p:sp>
      <p:sp>
        <p:nvSpPr>
          <p:cNvPr id="158" name="Google Shape;158;p17"/>
          <p:cNvSpPr txBox="1"/>
          <p:nvPr/>
        </p:nvSpPr>
        <p:spPr>
          <a:xfrm>
            <a:off x="1200150" y="3843337"/>
            <a:ext cx="4219575" cy="304800"/>
          </a:xfrm>
          <a:prstGeom prst="rect">
            <a:avLst/>
          </a:prstGeom>
          <a:noFill/>
          <a:ln>
            <a:noFill/>
          </a:ln>
        </p:spPr>
        <p:txBody>
          <a:bodyPr anchorCtr="0" anchor="t" bIns="0" lIns="104775"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475569"/>
                </a:solidFill>
                <a:latin typeface="Inter"/>
                <a:ea typeface="Inter"/>
                <a:cs typeface="Inter"/>
                <a:sym typeface="Inter"/>
              </a:rPr>
              <a:t>InvoiceDate:</a:t>
            </a:r>
            <a:r>
              <a:rPr b="0" i="0" lang="en-US" sz="1500" u="none" cap="none" strike="noStrike">
                <a:solidFill>
                  <a:srgbClr val="475569"/>
                </a:solidFill>
                <a:latin typeface="Inter"/>
                <a:ea typeface="Inter"/>
                <a:cs typeface="Inter"/>
                <a:sym typeface="Inter"/>
              </a:rPr>
              <a:t> Transaction timestamp</a:t>
            </a:r>
            <a:endParaRPr/>
          </a:p>
        </p:txBody>
      </p:sp>
      <p:sp>
        <p:nvSpPr>
          <p:cNvPr id="159" name="Google Shape;159;p17"/>
          <p:cNvSpPr txBox="1"/>
          <p:nvPr/>
        </p:nvSpPr>
        <p:spPr>
          <a:xfrm>
            <a:off x="1095375" y="4338637"/>
            <a:ext cx="1047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475569"/>
                </a:solidFill>
                <a:latin typeface="Inter"/>
                <a:ea typeface="Inter"/>
                <a:cs typeface="Inter"/>
                <a:sym typeface="Inter"/>
              </a:rPr>
              <a:t>•</a:t>
            </a:r>
            <a:endParaRPr/>
          </a:p>
        </p:txBody>
      </p:sp>
      <p:sp>
        <p:nvSpPr>
          <p:cNvPr id="160" name="Google Shape;160;p17"/>
          <p:cNvSpPr txBox="1"/>
          <p:nvPr/>
        </p:nvSpPr>
        <p:spPr>
          <a:xfrm>
            <a:off x="1200150" y="4338637"/>
            <a:ext cx="4219575" cy="304800"/>
          </a:xfrm>
          <a:prstGeom prst="rect">
            <a:avLst/>
          </a:prstGeom>
          <a:noFill/>
          <a:ln>
            <a:noFill/>
          </a:ln>
        </p:spPr>
        <p:txBody>
          <a:bodyPr anchorCtr="0" anchor="t" bIns="0" lIns="104775"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475569"/>
                </a:solidFill>
                <a:latin typeface="Inter"/>
                <a:ea typeface="Inter"/>
                <a:cs typeface="Inter"/>
                <a:sym typeface="Inter"/>
              </a:rPr>
              <a:t>Quantity:</a:t>
            </a:r>
            <a:r>
              <a:rPr b="0" i="0" lang="en-US" sz="1500" u="none" cap="none" strike="noStrike">
                <a:solidFill>
                  <a:srgbClr val="475569"/>
                </a:solidFill>
                <a:latin typeface="Inter"/>
                <a:ea typeface="Inter"/>
                <a:cs typeface="Inter"/>
                <a:sym typeface="Inter"/>
              </a:rPr>
              <a:t> Number of items purchased</a:t>
            </a:r>
            <a:endParaRPr/>
          </a:p>
        </p:txBody>
      </p:sp>
      <p:sp>
        <p:nvSpPr>
          <p:cNvPr id="161" name="Google Shape;161;p17"/>
          <p:cNvSpPr txBox="1"/>
          <p:nvPr/>
        </p:nvSpPr>
        <p:spPr>
          <a:xfrm>
            <a:off x="1095375" y="4833937"/>
            <a:ext cx="1047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475569"/>
                </a:solidFill>
                <a:latin typeface="Inter"/>
                <a:ea typeface="Inter"/>
                <a:cs typeface="Inter"/>
                <a:sym typeface="Inter"/>
              </a:rPr>
              <a:t>•</a:t>
            </a:r>
            <a:endParaRPr/>
          </a:p>
        </p:txBody>
      </p:sp>
      <p:sp>
        <p:nvSpPr>
          <p:cNvPr id="162" name="Google Shape;162;p17"/>
          <p:cNvSpPr txBox="1"/>
          <p:nvPr/>
        </p:nvSpPr>
        <p:spPr>
          <a:xfrm>
            <a:off x="1200150" y="4833937"/>
            <a:ext cx="4219575" cy="304800"/>
          </a:xfrm>
          <a:prstGeom prst="rect">
            <a:avLst/>
          </a:prstGeom>
          <a:noFill/>
          <a:ln>
            <a:noFill/>
          </a:ln>
        </p:spPr>
        <p:txBody>
          <a:bodyPr anchorCtr="0" anchor="t" bIns="0" lIns="104775"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475569"/>
                </a:solidFill>
                <a:latin typeface="Inter"/>
                <a:ea typeface="Inter"/>
                <a:cs typeface="Inter"/>
                <a:sym typeface="Inter"/>
              </a:rPr>
              <a:t>UnitPrice:</a:t>
            </a:r>
            <a:r>
              <a:rPr b="0" i="0" lang="en-US" sz="1500" u="none" cap="none" strike="noStrike">
                <a:solidFill>
                  <a:srgbClr val="475569"/>
                </a:solidFill>
                <a:latin typeface="Inter"/>
                <a:ea typeface="Inter"/>
                <a:cs typeface="Inter"/>
                <a:sym typeface="Inter"/>
              </a:rPr>
              <a:t> Price per individual unit</a:t>
            </a:r>
            <a:endParaRPr/>
          </a:p>
        </p:txBody>
      </p:sp>
      <p:sp>
        <p:nvSpPr>
          <p:cNvPr id="163" name="Google Shape;163;p17"/>
          <p:cNvSpPr txBox="1"/>
          <p:nvPr/>
        </p:nvSpPr>
        <p:spPr>
          <a:xfrm>
            <a:off x="1095375" y="5329237"/>
            <a:ext cx="1047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475569"/>
                </a:solidFill>
                <a:latin typeface="Inter"/>
                <a:ea typeface="Inter"/>
                <a:cs typeface="Inter"/>
                <a:sym typeface="Inter"/>
              </a:rPr>
              <a:t>•</a:t>
            </a:r>
            <a:endParaRPr/>
          </a:p>
        </p:txBody>
      </p:sp>
      <p:sp>
        <p:nvSpPr>
          <p:cNvPr id="164" name="Google Shape;164;p17"/>
          <p:cNvSpPr txBox="1"/>
          <p:nvPr/>
        </p:nvSpPr>
        <p:spPr>
          <a:xfrm>
            <a:off x="1200150" y="5329237"/>
            <a:ext cx="4219575" cy="304800"/>
          </a:xfrm>
          <a:prstGeom prst="rect">
            <a:avLst/>
          </a:prstGeom>
          <a:noFill/>
          <a:ln>
            <a:noFill/>
          </a:ln>
        </p:spPr>
        <p:txBody>
          <a:bodyPr anchorCtr="0" anchor="t" bIns="0" lIns="104775"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475569"/>
                </a:solidFill>
                <a:latin typeface="Inter"/>
                <a:ea typeface="Inter"/>
                <a:cs typeface="Inter"/>
                <a:sym typeface="Inter"/>
              </a:rPr>
              <a:t>Country:</a:t>
            </a:r>
            <a:r>
              <a:rPr b="0" i="0" lang="en-US" sz="1500" u="none" cap="none" strike="noStrike">
                <a:solidFill>
                  <a:srgbClr val="475569"/>
                </a:solidFill>
                <a:latin typeface="Inter"/>
                <a:ea typeface="Inter"/>
                <a:cs typeface="Inter"/>
                <a:sym typeface="Inter"/>
              </a:rPr>
              <a:t> Geographic location of customer</a:t>
            </a:r>
            <a:endParaRPr/>
          </a:p>
        </p:txBody>
      </p:sp>
      <p:sp>
        <p:nvSpPr>
          <p:cNvPr id="165" name="Google Shape;165;p17"/>
          <p:cNvSpPr txBox="1"/>
          <p:nvPr/>
        </p:nvSpPr>
        <p:spPr>
          <a:xfrm>
            <a:off x="6905625" y="3348037"/>
            <a:ext cx="1047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475569"/>
                </a:solidFill>
                <a:latin typeface="Inter"/>
                <a:ea typeface="Inter"/>
                <a:cs typeface="Inter"/>
                <a:sym typeface="Inter"/>
              </a:rPr>
              <a:t>•</a:t>
            </a:r>
            <a:endParaRPr/>
          </a:p>
        </p:txBody>
      </p:sp>
      <p:sp>
        <p:nvSpPr>
          <p:cNvPr id="166" name="Google Shape;166;p17"/>
          <p:cNvSpPr txBox="1"/>
          <p:nvPr/>
        </p:nvSpPr>
        <p:spPr>
          <a:xfrm>
            <a:off x="7010400" y="3348037"/>
            <a:ext cx="4219575" cy="609600"/>
          </a:xfrm>
          <a:prstGeom prst="rect">
            <a:avLst/>
          </a:prstGeom>
          <a:noFill/>
          <a:ln>
            <a:noFill/>
          </a:ln>
        </p:spPr>
        <p:txBody>
          <a:bodyPr anchorCtr="0" anchor="t" bIns="0" lIns="104775"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475569"/>
                </a:solidFill>
                <a:latin typeface="Inter"/>
                <a:ea typeface="Inter"/>
                <a:cs typeface="Inter"/>
                <a:sym typeface="Inter"/>
              </a:rPr>
              <a:t>Churn:</a:t>
            </a:r>
            <a:r>
              <a:rPr b="0" i="0" lang="en-US" sz="1500" u="none" cap="none" strike="noStrike">
                <a:solidFill>
                  <a:srgbClr val="475569"/>
                </a:solidFill>
                <a:latin typeface="Inter"/>
                <a:ea typeface="Inter"/>
                <a:cs typeface="Inter"/>
                <a:sym typeface="Inter"/>
              </a:rPr>
              <a:t> A binary indicator mapping whether a customer has stopped purchasing completely.</a:t>
            </a:r>
            <a:endParaRPr/>
          </a:p>
        </p:txBody>
      </p:sp>
      <p:sp>
        <p:nvSpPr>
          <p:cNvPr id="167" name="Google Shape;167;p17"/>
          <p:cNvSpPr txBox="1"/>
          <p:nvPr/>
        </p:nvSpPr>
        <p:spPr>
          <a:xfrm>
            <a:off x="6905625" y="4148137"/>
            <a:ext cx="1047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475569"/>
                </a:solidFill>
                <a:latin typeface="Inter"/>
                <a:ea typeface="Inter"/>
                <a:cs typeface="Inter"/>
                <a:sym typeface="Inter"/>
              </a:rPr>
              <a:t>•</a:t>
            </a:r>
            <a:endParaRPr/>
          </a:p>
        </p:txBody>
      </p:sp>
      <p:sp>
        <p:nvSpPr>
          <p:cNvPr id="168" name="Google Shape;168;p17"/>
          <p:cNvSpPr txBox="1"/>
          <p:nvPr/>
        </p:nvSpPr>
        <p:spPr>
          <a:xfrm>
            <a:off x="7010400" y="4452937"/>
            <a:ext cx="4219500" cy="969600"/>
          </a:xfrm>
          <a:prstGeom prst="rect">
            <a:avLst/>
          </a:prstGeom>
          <a:noFill/>
          <a:ln>
            <a:noFill/>
          </a:ln>
        </p:spPr>
        <p:txBody>
          <a:bodyPr anchorCtr="0" anchor="t" bIns="0" lIns="104775"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475569"/>
                </a:solidFill>
                <a:latin typeface="Inter"/>
                <a:ea typeface="Inter"/>
                <a:cs typeface="Inter"/>
                <a:sym typeface="Inter"/>
              </a:rPr>
              <a:t>Monetary Total:</a:t>
            </a:r>
            <a:r>
              <a:rPr b="0" i="0" lang="en-US" sz="1500" u="none" cap="none" strike="noStrike">
                <a:solidFill>
                  <a:srgbClr val="475569"/>
                </a:solidFill>
                <a:latin typeface="Inter"/>
                <a:ea typeface="Inter"/>
                <a:cs typeface="Inter"/>
                <a:sym typeface="Inter"/>
              </a:rPr>
              <a:t> A continuous numerical value representing total lifetime customer spending.</a:t>
            </a:r>
            <a:endParaRPr/>
          </a:p>
        </p:txBody>
      </p:sp>
      <p:sp>
        <p:nvSpPr>
          <p:cNvPr id="169" name="Google Shape;169;p17"/>
          <p:cNvSpPr txBox="1"/>
          <p:nvPr/>
        </p:nvSpPr>
        <p:spPr>
          <a:xfrm>
            <a:off x="571500" y="571500"/>
            <a:ext cx="11601450"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0284C7"/>
                </a:solidFill>
                <a:latin typeface="Plus Jakarta Sans"/>
                <a:ea typeface="Plus Jakarta Sans"/>
                <a:cs typeface="Plus Jakarta Sans"/>
                <a:sym typeface="Plus Jakarta Sans"/>
              </a:rPr>
              <a:t>Dataset Description</a:t>
            </a:r>
            <a:endParaRPr/>
          </a:p>
        </p:txBody>
      </p:sp>
      <p:sp>
        <p:nvSpPr>
          <p:cNvPr id="170" name="Google Shape;170;p17"/>
          <p:cNvSpPr/>
          <p:nvPr/>
        </p:nvSpPr>
        <p:spPr>
          <a:xfrm>
            <a:off x="571500" y="1247775"/>
            <a:ext cx="110490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74" name="Shape 174"/>
        <p:cNvGrpSpPr/>
        <p:nvPr/>
      </p:nvGrpSpPr>
      <p:grpSpPr>
        <a:xfrm>
          <a:off x="0" y="0"/>
          <a:ext cx="0" cy="0"/>
          <a:chOff x="0" y="0"/>
          <a:chExt cx="0" cy="0"/>
        </a:xfrm>
      </p:grpSpPr>
      <p:pic>
        <p:nvPicPr>
          <p:cNvPr descr="image.png" id="175" name="Google Shape;175;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76" name="Google Shape;176;p18"/>
          <p:cNvPicPr preferRelativeResize="0"/>
          <p:nvPr/>
        </p:nvPicPr>
        <p:blipFill rotWithShape="1">
          <a:blip r:embed="rId4">
            <a:alphaModFix/>
          </a:blip>
          <a:srcRect b="0" l="0" r="0" t="0"/>
          <a:stretch/>
        </p:blipFill>
        <p:spPr>
          <a:xfrm>
            <a:off x="571500" y="2526059"/>
            <a:ext cx="5238750" cy="2882205"/>
          </a:xfrm>
          <a:prstGeom prst="rect">
            <a:avLst/>
          </a:prstGeom>
          <a:noFill/>
          <a:ln>
            <a:noFill/>
          </a:ln>
        </p:spPr>
      </p:pic>
      <p:pic>
        <p:nvPicPr>
          <p:cNvPr descr="image.png" id="177" name="Google Shape;177;p18"/>
          <p:cNvPicPr preferRelativeResize="0"/>
          <p:nvPr/>
        </p:nvPicPr>
        <p:blipFill rotWithShape="1">
          <a:blip r:embed="rId5">
            <a:alphaModFix/>
          </a:blip>
          <a:srcRect b="0" l="0" r="0" t="0"/>
          <a:stretch/>
        </p:blipFill>
        <p:spPr>
          <a:xfrm>
            <a:off x="6381750" y="2526059"/>
            <a:ext cx="5238750" cy="2882205"/>
          </a:xfrm>
          <a:prstGeom prst="rect">
            <a:avLst/>
          </a:prstGeom>
          <a:noFill/>
          <a:ln>
            <a:noFill/>
          </a:ln>
        </p:spPr>
      </p:pic>
      <p:sp>
        <p:nvSpPr>
          <p:cNvPr id="178" name="Google Shape;178;p18"/>
          <p:cNvSpPr txBox="1"/>
          <p:nvPr/>
        </p:nvSpPr>
        <p:spPr>
          <a:xfrm>
            <a:off x="962025" y="2916584"/>
            <a:ext cx="4457700" cy="1143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9000" u="none" cap="none" strike="noStrike">
                <a:solidFill>
                  <a:srgbClr val="0284C7"/>
                </a:solidFill>
                <a:latin typeface="Plus Jakarta Sans"/>
                <a:ea typeface="Plus Jakarta Sans"/>
                <a:cs typeface="Plus Jakarta Sans"/>
                <a:sym typeface="Plus Jakarta Sans"/>
              </a:rPr>
              <a:t>01</a:t>
            </a:r>
            <a:endParaRPr/>
          </a:p>
        </p:txBody>
      </p:sp>
      <p:sp>
        <p:nvSpPr>
          <p:cNvPr id="179" name="Google Shape;179;p18"/>
          <p:cNvSpPr txBox="1"/>
          <p:nvPr/>
        </p:nvSpPr>
        <p:spPr>
          <a:xfrm>
            <a:off x="962025" y="4202459"/>
            <a:ext cx="4457700" cy="276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800" u="none" cap="none" strike="noStrike">
                <a:solidFill>
                  <a:srgbClr val="0F172A"/>
                </a:solidFill>
                <a:latin typeface="Inter SemiBold"/>
                <a:ea typeface="Inter SemiBold"/>
                <a:cs typeface="Inter SemiBold"/>
                <a:sym typeface="Inter SemiBold"/>
              </a:rPr>
              <a:t>Churn (Classification)</a:t>
            </a:r>
            <a:endParaRPr/>
          </a:p>
        </p:txBody>
      </p:sp>
      <p:sp>
        <p:nvSpPr>
          <p:cNvPr id="180" name="Google Shape;180;p18"/>
          <p:cNvSpPr txBox="1"/>
          <p:nvPr/>
        </p:nvSpPr>
        <p:spPr>
          <a:xfrm>
            <a:off x="962025" y="4621559"/>
            <a:ext cx="4457700" cy="2437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200" u="none" cap="none" strike="noStrike">
                <a:solidFill>
                  <a:srgbClr val="475569"/>
                </a:solidFill>
                <a:latin typeface="Inter"/>
                <a:ea typeface="Inter"/>
                <a:cs typeface="Inter"/>
                <a:sym typeface="Inter"/>
              </a:rPr>
              <a:t>Binary prediction of customer retention</a:t>
            </a:r>
            <a:endParaRPr/>
          </a:p>
        </p:txBody>
      </p:sp>
      <p:sp>
        <p:nvSpPr>
          <p:cNvPr id="181" name="Google Shape;181;p18"/>
          <p:cNvSpPr txBox="1"/>
          <p:nvPr/>
        </p:nvSpPr>
        <p:spPr>
          <a:xfrm>
            <a:off x="6772275" y="2916584"/>
            <a:ext cx="4457700" cy="1143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9000" u="none" cap="none" strike="noStrike">
                <a:solidFill>
                  <a:srgbClr val="0284C7"/>
                </a:solidFill>
                <a:latin typeface="Plus Jakarta Sans"/>
                <a:ea typeface="Plus Jakarta Sans"/>
                <a:cs typeface="Plus Jakarta Sans"/>
                <a:sym typeface="Plus Jakarta Sans"/>
              </a:rPr>
              <a:t>02</a:t>
            </a:r>
            <a:endParaRPr/>
          </a:p>
        </p:txBody>
      </p:sp>
      <p:sp>
        <p:nvSpPr>
          <p:cNvPr id="182" name="Google Shape;182;p18"/>
          <p:cNvSpPr txBox="1"/>
          <p:nvPr/>
        </p:nvSpPr>
        <p:spPr>
          <a:xfrm>
            <a:off x="6772275" y="4202459"/>
            <a:ext cx="4457700" cy="276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800" u="none" cap="none" strike="noStrike">
                <a:solidFill>
                  <a:srgbClr val="0F172A"/>
                </a:solidFill>
                <a:latin typeface="Inter SemiBold"/>
                <a:ea typeface="Inter SemiBold"/>
                <a:cs typeface="Inter SemiBold"/>
                <a:sym typeface="Inter SemiBold"/>
              </a:rPr>
              <a:t>Revenue (Regression)</a:t>
            </a:r>
            <a:endParaRPr/>
          </a:p>
        </p:txBody>
      </p:sp>
      <p:sp>
        <p:nvSpPr>
          <p:cNvPr id="183" name="Google Shape;183;p18"/>
          <p:cNvSpPr txBox="1"/>
          <p:nvPr/>
        </p:nvSpPr>
        <p:spPr>
          <a:xfrm>
            <a:off x="6772275" y="4621559"/>
            <a:ext cx="4457700" cy="2437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200" u="none" cap="none" strike="noStrike">
                <a:solidFill>
                  <a:srgbClr val="475569"/>
                </a:solidFill>
                <a:latin typeface="Inter"/>
                <a:ea typeface="Inter"/>
                <a:cs typeface="Inter"/>
                <a:sym typeface="Inter"/>
              </a:rPr>
              <a:t>Continuous prediction of monetary value</a:t>
            </a:r>
            <a:endParaRPr/>
          </a:p>
        </p:txBody>
      </p:sp>
      <p:sp>
        <p:nvSpPr>
          <p:cNvPr id="184" name="Google Shape;184;p18"/>
          <p:cNvSpPr txBox="1"/>
          <p:nvPr/>
        </p:nvSpPr>
        <p:spPr>
          <a:xfrm>
            <a:off x="571500" y="571500"/>
            <a:ext cx="11601450"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0284C7"/>
                </a:solidFill>
                <a:latin typeface="Plus Jakarta Sans"/>
                <a:ea typeface="Plus Jakarta Sans"/>
                <a:cs typeface="Plus Jakarta Sans"/>
                <a:sym typeface="Plus Jakarta Sans"/>
              </a:rPr>
              <a:t>Dual Prediction Targets</a:t>
            </a:r>
            <a:endParaRPr/>
          </a:p>
        </p:txBody>
      </p:sp>
      <p:sp>
        <p:nvSpPr>
          <p:cNvPr id="185" name="Google Shape;185;p18"/>
          <p:cNvSpPr/>
          <p:nvPr/>
        </p:nvSpPr>
        <p:spPr>
          <a:xfrm>
            <a:off x="571500" y="1247775"/>
            <a:ext cx="110490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89" name="Shape 189"/>
        <p:cNvGrpSpPr/>
        <p:nvPr/>
      </p:nvGrpSpPr>
      <p:grpSpPr>
        <a:xfrm>
          <a:off x="0" y="0"/>
          <a:ext cx="0" cy="0"/>
          <a:chOff x="0" y="0"/>
          <a:chExt cx="0" cy="0"/>
        </a:xfrm>
      </p:grpSpPr>
      <p:pic>
        <p:nvPicPr>
          <p:cNvPr descr="image.png" id="190" name="Google Shape;190;p1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91" name="Google Shape;191;p19"/>
          <p:cNvSpPr txBox="1"/>
          <p:nvPr/>
        </p:nvSpPr>
        <p:spPr>
          <a:xfrm>
            <a:off x="571500" y="571500"/>
            <a:ext cx="5500687"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0284C7"/>
                </a:solidFill>
                <a:latin typeface="Plus Jakarta Sans"/>
                <a:ea typeface="Plus Jakarta Sans"/>
                <a:cs typeface="Plus Jakarta Sans"/>
                <a:sym typeface="Plus Jakarta Sans"/>
              </a:rPr>
              <a:t>System Architecture</a:t>
            </a:r>
            <a:endParaRPr/>
          </a:p>
        </p:txBody>
      </p:sp>
      <p:sp>
        <p:nvSpPr>
          <p:cNvPr id="192" name="Google Shape;192;p19"/>
          <p:cNvSpPr/>
          <p:nvPr/>
        </p:nvSpPr>
        <p:spPr>
          <a:xfrm>
            <a:off x="571500" y="1247775"/>
            <a:ext cx="523875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3" name="Google Shape;193;p19"/>
          <p:cNvSpPr txBox="1"/>
          <p:nvPr/>
        </p:nvSpPr>
        <p:spPr>
          <a:xfrm>
            <a:off x="571500" y="2052637"/>
            <a:ext cx="523875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75569"/>
                </a:solidFill>
                <a:latin typeface="Inter"/>
                <a:ea typeface="Inter"/>
                <a:cs typeface="Inter"/>
                <a:sym typeface="Inter"/>
              </a:rPr>
              <a:t>Our solution utilizes a modular design ensuring separation of concerns, scalability, and maintainability.</a:t>
            </a:r>
            <a:endParaRPr/>
          </a:p>
        </p:txBody>
      </p:sp>
      <p:sp>
        <p:nvSpPr>
          <p:cNvPr id="194" name="Google Shape;194;p19"/>
          <p:cNvSpPr txBox="1"/>
          <p:nvPr/>
        </p:nvSpPr>
        <p:spPr>
          <a:xfrm>
            <a:off x="1047750" y="3100387"/>
            <a:ext cx="47625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0F172A"/>
                </a:solidFill>
                <a:latin typeface="Inter SemiBold"/>
                <a:ea typeface="Inter SemiBold"/>
                <a:cs typeface="Inter SemiBold"/>
                <a:sym typeface="Inter SemiBold"/>
              </a:rPr>
              <a:t>Data Input:</a:t>
            </a:r>
            <a:r>
              <a:rPr b="0" i="0" lang="en-US" sz="1500" u="none" cap="none" strike="noStrike">
                <a:solidFill>
                  <a:srgbClr val="475569"/>
                </a:solidFill>
                <a:latin typeface="Inter"/>
                <a:ea typeface="Inter"/>
                <a:cs typeface="Inter"/>
                <a:sym typeface="Inter"/>
              </a:rPr>
              <a:t> Ingest raw retail CSVs.</a:t>
            </a:r>
            <a:endParaRPr/>
          </a:p>
        </p:txBody>
      </p:sp>
      <p:sp>
        <p:nvSpPr>
          <p:cNvPr id="195" name="Google Shape;195;p19"/>
          <p:cNvSpPr txBox="1"/>
          <p:nvPr/>
        </p:nvSpPr>
        <p:spPr>
          <a:xfrm>
            <a:off x="1047750" y="3643312"/>
            <a:ext cx="47625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0F172A"/>
                </a:solidFill>
                <a:latin typeface="Inter SemiBold"/>
                <a:ea typeface="Inter SemiBold"/>
                <a:cs typeface="Inter SemiBold"/>
                <a:sym typeface="Inter SemiBold"/>
              </a:rPr>
              <a:t>Data Processing:</a:t>
            </a:r>
            <a:r>
              <a:rPr b="0" i="0" lang="en-US" sz="1500" u="none" cap="none" strike="noStrike">
                <a:solidFill>
                  <a:srgbClr val="475569"/>
                </a:solidFill>
                <a:latin typeface="Inter"/>
                <a:ea typeface="Inter"/>
                <a:cs typeface="Inter"/>
                <a:sym typeface="Inter"/>
              </a:rPr>
              <a:t> Cleaning, scaling, and engineering features.</a:t>
            </a:r>
            <a:endParaRPr/>
          </a:p>
        </p:txBody>
      </p:sp>
      <p:sp>
        <p:nvSpPr>
          <p:cNvPr id="196" name="Google Shape;196;p19"/>
          <p:cNvSpPr txBox="1"/>
          <p:nvPr/>
        </p:nvSpPr>
        <p:spPr>
          <a:xfrm>
            <a:off x="1047750" y="4491037"/>
            <a:ext cx="47625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0F172A"/>
                </a:solidFill>
                <a:latin typeface="Inter SemiBold"/>
                <a:ea typeface="Inter SemiBold"/>
                <a:cs typeface="Inter SemiBold"/>
                <a:sym typeface="Inter SemiBold"/>
              </a:rPr>
              <a:t>Machine Learning:</a:t>
            </a:r>
            <a:r>
              <a:rPr b="0" i="0" lang="en-US" sz="1500" u="none" cap="none" strike="noStrike">
                <a:solidFill>
                  <a:srgbClr val="475569"/>
                </a:solidFill>
                <a:latin typeface="Inter"/>
                <a:ea typeface="Inter"/>
                <a:cs typeface="Inter"/>
                <a:sym typeface="Inter"/>
              </a:rPr>
              <a:t> Training KMeans, XGBoost, and Regression models.</a:t>
            </a:r>
            <a:endParaRPr/>
          </a:p>
        </p:txBody>
      </p:sp>
      <p:sp>
        <p:nvSpPr>
          <p:cNvPr id="197" name="Google Shape;197;p19"/>
          <p:cNvSpPr txBox="1"/>
          <p:nvPr/>
        </p:nvSpPr>
        <p:spPr>
          <a:xfrm>
            <a:off x="1047750" y="5338762"/>
            <a:ext cx="47625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0F172A"/>
                </a:solidFill>
                <a:latin typeface="Inter SemiBold"/>
                <a:ea typeface="Inter SemiBold"/>
                <a:cs typeface="Inter SemiBold"/>
                <a:sym typeface="Inter SemiBold"/>
              </a:rPr>
              <a:t>Dashboard:</a:t>
            </a:r>
            <a:r>
              <a:rPr b="0" i="0" lang="en-US" sz="1500" u="none" cap="none" strike="noStrike">
                <a:solidFill>
                  <a:srgbClr val="475569"/>
                </a:solidFill>
                <a:latin typeface="Inter"/>
                <a:ea typeface="Inter"/>
                <a:cs typeface="Inter"/>
                <a:sym typeface="Inter"/>
              </a:rPr>
              <a:t> Rendering insights via REST APIs.</a:t>
            </a:r>
            <a:endParaRPr/>
          </a:p>
        </p:txBody>
      </p:sp>
      <p:pic>
        <p:nvPicPr>
          <p:cNvPr descr="image.png" id="198" name="Google Shape;198;p19"/>
          <p:cNvPicPr preferRelativeResize="0"/>
          <p:nvPr/>
        </p:nvPicPr>
        <p:blipFill rotWithShape="1">
          <a:blip r:embed="rId4">
            <a:alphaModFix/>
          </a:blip>
          <a:srcRect b="0" l="0" r="0" t="0"/>
          <a:stretch/>
        </p:blipFill>
        <p:spPr>
          <a:xfrm>
            <a:off x="571500" y="3128962"/>
            <a:ext cx="228600" cy="247650"/>
          </a:xfrm>
          <a:prstGeom prst="rect">
            <a:avLst/>
          </a:prstGeom>
          <a:noFill/>
          <a:ln>
            <a:noFill/>
          </a:ln>
        </p:spPr>
      </p:pic>
      <p:pic>
        <p:nvPicPr>
          <p:cNvPr descr="image.png" id="199" name="Google Shape;199;p19"/>
          <p:cNvPicPr preferRelativeResize="0"/>
          <p:nvPr/>
        </p:nvPicPr>
        <p:blipFill rotWithShape="1">
          <a:blip r:embed="rId5">
            <a:alphaModFix/>
          </a:blip>
          <a:srcRect b="0" l="0" r="0" t="0"/>
          <a:stretch/>
        </p:blipFill>
        <p:spPr>
          <a:xfrm>
            <a:off x="571500" y="3671887"/>
            <a:ext cx="285750" cy="247650"/>
          </a:xfrm>
          <a:prstGeom prst="rect">
            <a:avLst/>
          </a:prstGeom>
          <a:noFill/>
          <a:ln>
            <a:noFill/>
          </a:ln>
        </p:spPr>
      </p:pic>
      <p:pic>
        <p:nvPicPr>
          <p:cNvPr descr="image.png" id="200" name="Google Shape;200;p19"/>
          <p:cNvPicPr preferRelativeResize="0"/>
          <p:nvPr/>
        </p:nvPicPr>
        <p:blipFill rotWithShape="1">
          <a:blip r:embed="rId6">
            <a:alphaModFix/>
          </a:blip>
          <a:srcRect b="0" l="0" r="0" t="0"/>
          <a:stretch/>
        </p:blipFill>
        <p:spPr>
          <a:xfrm>
            <a:off x="571500" y="4519612"/>
            <a:ext cx="285750" cy="247650"/>
          </a:xfrm>
          <a:prstGeom prst="rect">
            <a:avLst/>
          </a:prstGeom>
          <a:noFill/>
          <a:ln>
            <a:noFill/>
          </a:ln>
        </p:spPr>
      </p:pic>
      <p:pic>
        <p:nvPicPr>
          <p:cNvPr descr="image.png" id="201" name="Google Shape;201;p19"/>
          <p:cNvPicPr preferRelativeResize="0"/>
          <p:nvPr/>
        </p:nvPicPr>
        <p:blipFill rotWithShape="1">
          <a:blip r:embed="rId7">
            <a:alphaModFix/>
          </a:blip>
          <a:srcRect b="0" l="0" r="0" t="0"/>
          <a:stretch/>
        </p:blipFill>
        <p:spPr>
          <a:xfrm>
            <a:off x="571500" y="5367337"/>
            <a:ext cx="257175" cy="2476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05" name="Shape 205"/>
        <p:cNvGrpSpPr/>
        <p:nvPr/>
      </p:nvGrpSpPr>
      <p:grpSpPr>
        <a:xfrm>
          <a:off x="0" y="0"/>
          <a:ext cx="0" cy="0"/>
          <a:chOff x="0" y="0"/>
          <a:chExt cx="0" cy="0"/>
        </a:xfrm>
      </p:grpSpPr>
      <p:pic>
        <p:nvPicPr>
          <p:cNvPr descr="image.png" id="206" name="Google Shape;206;p2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07" name="Google Shape;207;p20"/>
          <p:cNvPicPr preferRelativeResize="0"/>
          <p:nvPr/>
        </p:nvPicPr>
        <p:blipFill rotWithShape="1">
          <a:blip r:embed="rId4">
            <a:alphaModFix/>
          </a:blip>
          <a:srcRect b="0" l="0" r="0" t="0"/>
          <a:stretch/>
        </p:blipFill>
        <p:spPr>
          <a:xfrm>
            <a:off x="571500" y="2166044"/>
            <a:ext cx="3492400" cy="3602235"/>
          </a:xfrm>
          <a:prstGeom prst="rect">
            <a:avLst/>
          </a:prstGeom>
          <a:noFill/>
          <a:ln>
            <a:noFill/>
          </a:ln>
        </p:spPr>
      </p:pic>
      <p:pic>
        <p:nvPicPr>
          <p:cNvPr descr="image.png" id="208" name="Google Shape;208;p20"/>
          <p:cNvPicPr preferRelativeResize="0"/>
          <p:nvPr/>
        </p:nvPicPr>
        <p:blipFill rotWithShape="1">
          <a:blip r:embed="rId5">
            <a:alphaModFix/>
          </a:blip>
          <a:srcRect b="0" l="0" r="0" t="0"/>
          <a:stretch/>
        </p:blipFill>
        <p:spPr>
          <a:xfrm>
            <a:off x="4349650" y="2166044"/>
            <a:ext cx="3492549" cy="3602235"/>
          </a:xfrm>
          <a:prstGeom prst="rect">
            <a:avLst/>
          </a:prstGeom>
          <a:noFill/>
          <a:ln>
            <a:noFill/>
          </a:ln>
        </p:spPr>
      </p:pic>
      <p:pic>
        <p:nvPicPr>
          <p:cNvPr descr="image.png" id="209" name="Google Shape;209;p20"/>
          <p:cNvPicPr preferRelativeResize="0"/>
          <p:nvPr/>
        </p:nvPicPr>
        <p:blipFill rotWithShape="1">
          <a:blip r:embed="rId6">
            <a:alphaModFix/>
          </a:blip>
          <a:srcRect b="0" l="0" r="0" t="0"/>
          <a:stretch/>
        </p:blipFill>
        <p:spPr>
          <a:xfrm>
            <a:off x="8127950" y="2166044"/>
            <a:ext cx="3492400" cy="3602235"/>
          </a:xfrm>
          <a:prstGeom prst="rect">
            <a:avLst/>
          </a:prstGeom>
          <a:noFill/>
          <a:ln>
            <a:noFill/>
          </a:ln>
        </p:spPr>
      </p:pic>
      <p:pic>
        <p:nvPicPr>
          <p:cNvPr descr="image.png" id="210" name="Google Shape;210;p20"/>
          <p:cNvPicPr preferRelativeResize="0"/>
          <p:nvPr/>
        </p:nvPicPr>
        <p:blipFill rotWithShape="1">
          <a:blip r:embed="rId7">
            <a:alphaModFix/>
          </a:blip>
          <a:srcRect b="0" l="0" r="0" t="0"/>
          <a:stretch/>
        </p:blipFill>
        <p:spPr>
          <a:xfrm>
            <a:off x="1889075" y="2556569"/>
            <a:ext cx="857250" cy="857250"/>
          </a:xfrm>
          <a:prstGeom prst="rect">
            <a:avLst/>
          </a:prstGeom>
          <a:noFill/>
          <a:ln>
            <a:noFill/>
          </a:ln>
        </p:spPr>
      </p:pic>
      <p:sp>
        <p:nvSpPr>
          <p:cNvPr id="211" name="Google Shape;211;p20"/>
          <p:cNvSpPr txBox="1"/>
          <p:nvPr/>
        </p:nvSpPr>
        <p:spPr>
          <a:xfrm>
            <a:off x="1352579" y="3651944"/>
            <a:ext cx="1930241" cy="3333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0F172A"/>
                </a:solidFill>
                <a:latin typeface="Plus Jakarta Sans SemiBold"/>
                <a:ea typeface="Plus Jakarta Sans SemiBold"/>
                <a:cs typeface="Plus Jakarta Sans SemiBold"/>
                <a:sym typeface="Plus Jakarta Sans SemiBold"/>
              </a:rPr>
              <a:t>Missing Values</a:t>
            </a:r>
            <a:endParaRPr/>
          </a:p>
        </p:txBody>
      </p:sp>
      <p:sp>
        <p:nvSpPr>
          <p:cNvPr id="212" name="Google Shape;212;p20"/>
          <p:cNvSpPr txBox="1"/>
          <p:nvPr/>
        </p:nvSpPr>
        <p:spPr>
          <a:xfrm>
            <a:off x="866775" y="4128194"/>
            <a:ext cx="2901850" cy="109716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475569"/>
                </a:solidFill>
                <a:latin typeface="Inter"/>
                <a:ea typeface="Inter"/>
                <a:cs typeface="Inter"/>
                <a:sym typeface="Inter"/>
              </a:rPr>
              <a:t>Numerical features imputed using median strategies. Categorical variables rely on mode imputation to maintain distribution integrity.</a:t>
            </a:r>
            <a:endParaRPr/>
          </a:p>
        </p:txBody>
      </p:sp>
      <p:pic>
        <p:nvPicPr>
          <p:cNvPr descr="image.png" id="213" name="Google Shape;213;p20"/>
          <p:cNvPicPr preferRelativeResize="0"/>
          <p:nvPr/>
        </p:nvPicPr>
        <p:blipFill rotWithShape="1">
          <a:blip r:embed="rId8">
            <a:alphaModFix/>
          </a:blip>
          <a:srcRect b="0" l="0" r="0" t="0"/>
          <a:stretch/>
        </p:blipFill>
        <p:spPr>
          <a:xfrm>
            <a:off x="5667226" y="2556569"/>
            <a:ext cx="857250" cy="857250"/>
          </a:xfrm>
          <a:prstGeom prst="rect">
            <a:avLst/>
          </a:prstGeom>
          <a:noFill/>
          <a:ln>
            <a:noFill/>
          </a:ln>
        </p:spPr>
      </p:pic>
      <p:sp>
        <p:nvSpPr>
          <p:cNvPr id="214" name="Google Shape;214;p20"/>
          <p:cNvSpPr txBox="1"/>
          <p:nvPr/>
        </p:nvSpPr>
        <p:spPr>
          <a:xfrm>
            <a:off x="5455771" y="3651944"/>
            <a:ext cx="1280160" cy="3333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0F172A"/>
                </a:solidFill>
                <a:latin typeface="Plus Jakarta Sans SemiBold"/>
                <a:ea typeface="Plus Jakarta Sans SemiBold"/>
                <a:cs typeface="Plus Jakarta Sans SemiBold"/>
                <a:sym typeface="Plus Jakarta Sans SemiBold"/>
              </a:rPr>
              <a:t>Encoding</a:t>
            </a:r>
            <a:endParaRPr/>
          </a:p>
        </p:txBody>
      </p:sp>
      <p:sp>
        <p:nvSpPr>
          <p:cNvPr id="215" name="Google Shape;215;p20"/>
          <p:cNvSpPr txBox="1"/>
          <p:nvPr/>
        </p:nvSpPr>
        <p:spPr>
          <a:xfrm>
            <a:off x="4644925" y="4128194"/>
            <a:ext cx="2901999" cy="109716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475569"/>
                </a:solidFill>
                <a:latin typeface="Inter"/>
                <a:ea typeface="Inter"/>
                <a:cs typeface="Inter"/>
                <a:sym typeface="Inter"/>
              </a:rPr>
              <a:t>One-hot encoding applied to low-cardinality nominal features, with label encoding reserved for ordinal relationships.</a:t>
            </a:r>
            <a:endParaRPr/>
          </a:p>
        </p:txBody>
      </p:sp>
      <p:pic>
        <p:nvPicPr>
          <p:cNvPr descr="image.png" id="216" name="Google Shape;216;p20"/>
          <p:cNvPicPr preferRelativeResize="0"/>
          <p:nvPr/>
        </p:nvPicPr>
        <p:blipFill rotWithShape="1">
          <a:blip r:embed="rId9">
            <a:alphaModFix/>
          </a:blip>
          <a:srcRect b="0" l="0" r="0" t="0"/>
          <a:stretch/>
        </p:blipFill>
        <p:spPr>
          <a:xfrm>
            <a:off x="9445525" y="2556569"/>
            <a:ext cx="857250" cy="857250"/>
          </a:xfrm>
          <a:prstGeom prst="rect">
            <a:avLst/>
          </a:prstGeom>
          <a:noFill/>
          <a:ln>
            <a:noFill/>
          </a:ln>
        </p:spPr>
      </p:pic>
      <p:sp>
        <p:nvSpPr>
          <p:cNvPr id="217" name="Google Shape;217;p20"/>
          <p:cNvSpPr txBox="1"/>
          <p:nvPr/>
        </p:nvSpPr>
        <p:spPr>
          <a:xfrm>
            <a:off x="8694003" y="3651944"/>
            <a:ext cx="2360295" cy="3333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0F172A"/>
                </a:solidFill>
                <a:latin typeface="Plus Jakarta Sans SemiBold"/>
                <a:ea typeface="Plus Jakarta Sans SemiBold"/>
                <a:cs typeface="Plus Jakarta Sans SemiBold"/>
                <a:sym typeface="Plus Jakarta Sans SemiBold"/>
              </a:rPr>
              <a:t>Feature Selection</a:t>
            </a:r>
            <a:endParaRPr/>
          </a:p>
        </p:txBody>
      </p:sp>
      <p:sp>
        <p:nvSpPr>
          <p:cNvPr id="218" name="Google Shape;218;p20"/>
          <p:cNvSpPr txBox="1"/>
          <p:nvPr/>
        </p:nvSpPr>
        <p:spPr>
          <a:xfrm>
            <a:off x="8423225" y="4128194"/>
            <a:ext cx="2901850" cy="109716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475569"/>
                </a:solidFill>
                <a:latin typeface="Inter"/>
                <a:ea typeface="Inter"/>
                <a:cs typeface="Inter"/>
                <a:sym typeface="Inter"/>
              </a:rPr>
              <a:t>Highly correlated and irrelevant features are aggressively filtered out using correlation thresholding mechanisms.</a:t>
            </a:r>
            <a:endParaRPr/>
          </a:p>
        </p:txBody>
      </p:sp>
      <p:pic>
        <p:nvPicPr>
          <p:cNvPr descr="image.png" id="219" name="Google Shape;219;p20"/>
          <p:cNvPicPr preferRelativeResize="0"/>
          <p:nvPr/>
        </p:nvPicPr>
        <p:blipFill rotWithShape="1">
          <a:blip r:embed="rId10">
            <a:alphaModFix/>
          </a:blip>
          <a:srcRect b="0" l="0" r="0" t="0"/>
          <a:stretch/>
        </p:blipFill>
        <p:spPr>
          <a:xfrm>
            <a:off x="2060525" y="2756594"/>
            <a:ext cx="514350" cy="457200"/>
          </a:xfrm>
          <a:prstGeom prst="rect">
            <a:avLst/>
          </a:prstGeom>
          <a:noFill/>
          <a:ln>
            <a:noFill/>
          </a:ln>
        </p:spPr>
      </p:pic>
      <p:pic>
        <p:nvPicPr>
          <p:cNvPr descr="image.png" id="220" name="Google Shape;220;p20"/>
          <p:cNvPicPr preferRelativeResize="0"/>
          <p:nvPr/>
        </p:nvPicPr>
        <p:blipFill rotWithShape="1">
          <a:blip r:embed="rId11">
            <a:alphaModFix/>
          </a:blip>
          <a:srcRect b="0" l="0" r="0" t="0"/>
          <a:stretch/>
        </p:blipFill>
        <p:spPr>
          <a:xfrm>
            <a:off x="5895826" y="2756594"/>
            <a:ext cx="400050" cy="457200"/>
          </a:xfrm>
          <a:prstGeom prst="rect">
            <a:avLst/>
          </a:prstGeom>
          <a:noFill/>
          <a:ln>
            <a:noFill/>
          </a:ln>
        </p:spPr>
      </p:pic>
      <p:pic>
        <p:nvPicPr>
          <p:cNvPr descr="image.png" id="221" name="Google Shape;221;p20"/>
          <p:cNvPicPr preferRelativeResize="0"/>
          <p:nvPr/>
        </p:nvPicPr>
        <p:blipFill rotWithShape="1">
          <a:blip r:embed="rId12">
            <a:alphaModFix/>
          </a:blip>
          <a:srcRect b="0" l="0" r="0" t="0"/>
          <a:stretch/>
        </p:blipFill>
        <p:spPr>
          <a:xfrm>
            <a:off x="9645550" y="2756594"/>
            <a:ext cx="457200" cy="457200"/>
          </a:xfrm>
          <a:prstGeom prst="rect">
            <a:avLst/>
          </a:prstGeom>
          <a:noFill/>
          <a:ln>
            <a:noFill/>
          </a:ln>
        </p:spPr>
      </p:pic>
      <p:sp>
        <p:nvSpPr>
          <p:cNvPr id="222" name="Google Shape;222;p20"/>
          <p:cNvSpPr txBox="1"/>
          <p:nvPr/>
        </p:nvSpPr>
        <p:spPr>
          <a:xfrm>
            <a:off x="571500" y="571500"/>
            <a:ext cx="11601450"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0284C7"/>
                </a:solidFill>
                <a:latin typeface="Plus Jakarta Sans"/>
                <a:ea typeface="Plus Jakarta Sans"/>
                <a:cs typeface="Plus Jakarta Sans"/>
                <a:sym typeface="Plus Jakarta Sans"/>
              </a:rPr>
              <a:t>Data Preprocessing Pipeline</a:t>
            </a:r>
            <a:endParaRPr/>
          </a:p>
        </p:txBody>
      </p:sp>
      <p:sp>
        <p:nvSpPr>
          <p:cNvPr id="223" name="Google Shape;223;p20"/>
          <p:cNvSpPr/>
          <p:nvPr/>
        </p:nvSpPr>
        <p:spPr>
          <a:xfrm>
            <a:off x="571500" y="1247775"/>
            <a:ext cx="110490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27" name="Shape 227"/>
        <p:cNvGrpSpPr/>
        <p:nvPr/>
      </p:nvGrpSpPr>
      <p:grpSpPr>
        <a:xfrm>
          <a:off x="0" y="0"/>
          <a:ext cx="0" cy="0"/>
          <a:chOff x="0" y="0"/>
          <a:chExt cx="0" cy="0"/>
        </a:xfrm>
      </p:grpSpPr>
      <p:pic>
        <p:nvPicPr>
          <p:cNvPr descr="image.png" id="228" name="Google Shape;228;p2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29" name="Google Shape;229;p21"/>
          <p:cNvSpPr txBox="1"/>
          <p:nvPr/>
        </p:nvSpPr>
        <p:spPr>
          <a:xfrm>
            <a:off x="2381250" y="2238375"/>
            <a:ext cx="7429500" cy="2800201"/>
          </a:xfrm>
          <a:prstGeom prst="rect">
            <a:avLst/>
          </a:prstGeom>
          <a:noFill/>
          <a:ln>
            <a:noFill/>
          </a:ln>
        </p:spPr>
        <p:txBody>
          <a:bodyPr anchorCtr="0" anchor="t" bIns="0" lIns="0" spcFirstLastPara="1" rIns="0" wrap="square" tIns="0">
            <a:spAutoFit/>
          </a:bodyPr>
          <a:lstStyle/>
          <a:p>
            <a:pPr indent="0" lvl="0" marL="0" marR="0" rtl="0" algn="ctr">
              <a:lnSpc>
                <a:spcPct val="139968"/>
              </a:lnSpc>
              <a:spcBef>
                <a:spcPts val="0"/>
              </a:spcBef>
              <a:spcAft>
                <a:spcPts val="0"/>
              </a:spcAft>
              <a:buNone/>
            </a:pPr>
            <a:r>
              <a:rPr b="0" i="0" lang="en-US" sz="3150" u="none" cap="none" strike="noStrike">
                <a:solidFill>
                  <a:srgbClr val="0F172A"/>
                </a:solidFill>
                <a:latin typeface="Plus Jakarta Sans SemiBold"/>
                <a:ea typeface="Plus Jakarta Sans SemiBold"/>
                <a:cs typeface="Plus Jakarta Sans SemiBold"/>
                <a:sym typeface="Plus Jakarta Sans SemiBold"/>
              </a:rPr>
              <a:t>Features with excessive unique categories, such as CustomerID, inherently cause model noise and are strategically excluded from the predictive modeling phase.</a:t>
            </a:r>
            <a:endParaRPr/>
          </a:p>
        </p:txBody>
      </p:sp>
      <p:sp>
        <p:nvSpPr>
          <p:cNvPr id="230" name="Google Shape;230;p21"/>
          <p:cNvSpPr txBox="1"/>
          <p:nvPr/>
        </p:nvSpPr>
        <p:spPr>
          <a:xfrm>
            <a:off x="4405312" y="5419576"/>
            <a:ext cx="3381375" cy="276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800" u="none" cap="none" strike="noStrike">
                <a:solidFill>
                  <a:srgbClr val="0284C7"/>
                </a:solidFill>
                <a:latin typeface="Inter SemiBold"/>
                <a:ea typeface="Inter SemiBold"/>
                <a:cs typeface="Inter SemiBold"/>
                <a:sym typeface="Inter SemiBold"/>
              </a:rPr>
              <a:t>— Pipeline Design Principles</a:t>
            </a:r>
            <a:endParaRPr/>
          </a:p>
        </p:txBody>
      </p:sp>
      <p:sp>
        <p:nvSpPr>
          <p:cNvPr id="231" name="Google Shape;231;p21"/>
          <p:cNvSpPr txBox="1"/>
          <p:nvPr/>
        </p:nvSpPr>
        <p:spPr>
          <a:xfrm>
            <a:off x="1619250" y="2619375"/>
            <a:ext cx="634603" cy="1314450"/>
          </a:xfrm>
          <a:prstGeom prst="rect">
            <a:avLst/>
          </a:prstGeom>
          <a:noFill/>
          <a:ln>
            <a:noFill/>
          </a:ln>
        </p:spPr>
        <p:txBody>
          <a:bodyPr anchorCtr="0" anchor="t" bIns="0" lIns="0" spcFirstLastPara="1" rIns="0" wrap="square" tIns="0">
            <a:spAutoFit/>
          </a:bodyPr>
          <a:lstStyle/>
          <a:p>
            <a:pPr indent="0" lvl="0" marL="0" marR="0" rtl="0" algn="l">
              <a:lnSpc>
                <a:spcPct val="0"/>
              </a:lnSpc>
              <a:spcBef>
                <a:spcPts val="0"/>
              </a:spcBef>
              <a:spcAft>
                <a:spcPts val="0"/>
              </a:spcAft>
              <a:buNone/>
            </a:pPr>
            <a:r>
              <a:rPr b="0" i="0" lang="en-US" sz="9000" u="none" cap="none" strike="noStrike">
                <a:solidFill>
                  <a:srgbClr val="BAE6FD"/>
                </a:solidFill>
                <a:latin typeface="Arial"/>
                <a:ea typeface="Arial"/>
                <a:cs typeface="Arial"/>
                <a:sym typeface="Arial"/>
              </a:rPr>
              <a:t>"</a:t>
            </a:r>
            <a:endParaRPr/>
          </a:p>
        </p:txBody>
      </p:sp>
      <p:sp>
        <p:nvSpPr>
          <p:cNvPr id="232" name="Google Shape;232;p21"/>
          <p:cNvSpPr txBox="1"/>
          <p:nvPr/>
        </p:nvSpPr>
        <p:spPr>
          <a:xfrm>
            <a:off x="571500" y="571500"/>
            <a:ext cx="11601450"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0284C7"/>
                </a:solidFill>
                <a:latin typeface="Plus Jakarta Sans"/>
                <a:ea typeface="Plus Jakarta Sans"/>
                <a:cs typeface="Plus Jakarta Sans"/>
                <a:sym typeface="Plus Jakarta Sans"/>
              </a:rPr>
              <a:t>Handling High Cardinality</a:t>
            </a:r>
            <a:endParaRPr/>
          </a:p>
        </p:txBody>
      </p:sp>
      <p:sp>
        <p:nvSpPr>
          <p:cNvPr id="233" name="Google Shape;233;p21"/>
          <p:cNvSpPr/>
          <p:nvPr/>
        </p:nvSpPr>
        <p:spPr>
          <a:xfrm>
            <a:off x="571500" y="1247775"/>
            <a:ext cx="110490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37" name="Shape 237"/>
        <p:cNvGrpSpPr/>
        <p:nvPr/>
      </p:nvGrpSpPr>
      <p:grpSpPr>
        <a:xfrm>
          <a:off x="0" y="0"/>
          <a:ext cx="0" cy="0"/>
          <a:chOff x="0" y="0"/>
          <a:chExt cx="0" cy="0"/>
        </a:xfrm>
      </p:grpSpPr>
      <p:pic>
        <p:nvPicPr>
          <p:cNvPr descr="image.png" id="238" name="Google Shape;238;p2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39" name="Google Shape;239;p22"/>
          <p:cNvPicPr preferRelativeResize="0"/>
          <p:nvPr/>
        </p:nvPicPr>
        <p:blipFill rotWithShape="1">
          <a:blip r:embed="rId4">
            <a:alphaModFix/>
          </a:blip>
          <a:srcRect b="0" l="0" r="0" t="0"/>
          <a:stretch/>
        </p:blipFill>
        <p:spPr>
          <a:xfrm>
            <a:off x="6381750" y="2062162"/>
            <a:ext cx="5238750" cy="3810000"/>
          </a:xfrm>
          <a:prstGeom prst="rect">
            <a:avLst/>
          </a:prstGeom>
          <a:noFill/>
          <a:ln>
            <a:noFill/>
          </a:ln>
        </p:spPr>
      </p:pic>
      <p:sp>
        <p:nvSpPr>
          <p:cNvPr id="240" name="Google Shape;240;p22"/>
          <p:cNvSpPr txBox="1"/>
          <p:nvPr/>
        </p:nvSpPr>
        <p:spPr>
          <a:xfrm>
            <a:off x="571500" y="2062162"/>
            <a:ext cx="5500687" cy="3333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0F172A"/>
                </a:solidFill>
                <a:latin typeface="Plus Jakarta Sans SemiBold"/>
                <a:ea typeface="Plus Jakarta Sans SemiBold"/>
                <a:cs typeface="Plus Jakarta Sans SemiBold"/>
                <a:sym typeface="Plus Jakarta Sans SemiBold"/>
              </a:rPr>
              <a:t>Isolation Forest Algorithm</a:t>
            </a:r>
            <a:endParaRPr/>
          </a:p>
        </p:txBody>
      </p:sp>
      <p:sp>
        <p:nvSpPr>
          <p:cNvPr id="241" name="Google Shape;241;p22"/>
          <p:cNvSpPr txBox="1"/>
          <p:nvPr/>
        </p:nvSpPr>
        <p:spPr>
          <a:xfrm>
            <a:off x="571500" y="2538412"/>
            <a:ext cx="523875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75569"/>
                </a:solidFill>
                <a:latin typeface="Inter"/>
                <a:ea typeface="Inter"/>
                <a:cs typeface="Inter"/>
                <a:sym typeface="Inter"/>
              </a:rPr>
              <a:t>In high-dimensional retail datasets, traditional statistical bounds fail to capture multidimensional anomalies.</a:t>
            </a:r>
            <a:endParaRPr/>
          </a:p>
        </p:txBody>
      </p:sp>
      <p:sp>
        <p:nvSpPr>
          <p:cNvPr id="242" name="Google Shape;242;p22"/>
          <p:cNvSpPr txBox="1"/>
          <p:nvPr/>
        </p:nvSpPr>
        <p:spPr>
          <a:xfrm>
            <a:off x="571500" y="3300412"/>
            <a:ext cx="5238750" cy="1524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75569"/>
                </a:solidFill>
                <a:latin typeface="Inter"/>
                <a:ea typeface="Inter"/>
                <a:cs typeface="Inter"/>
                <a:sym typeface="Inter"/>
              </a:rPr>
              <a:t>We utilized the </a:t>
            </a:r>
            <a:r>
              <a:rPr b="1" i="0" lang="en-US" sz="1500" u="none" cap="none" strike="noStrike">
                <a:solidFill>
                  <a:srgbClr val="475569"/>
                </a:solidFill>
                <a:latin typeface="Inter"/>
                <a:ea typeface="Inter"/>
                <a:cs typeface="Inter"/>
                <a:sym typeface="Inter"/>
              </a:rPr>
              <a:t>Isolation Forest</a:t>
            </a:r>
            <a:r>
              <a:rPr b="0" i="0" lang="en-US" sz="1500" u="none" cap="none" strike="noStrike">
                <a:solidFill>
                  <a:srgbClr val="475569"/>
                </a:solidFill>
                <a:latin typeface="Inter"/>
                <a:ea typeface="Inter"/>
                <a:cs typeface="Inter"/>
                <a:sym typeface="Inter"/>
              </a:rPr>
              <a:t> algorithm, which isolates anomalies based on random feature partitioning. Because outliers are "few and different," they are isolated closer to the root of the tree structures, making detection highly efficient and scalable.</a:t>
            </a:r>
            <a:endParaRPr/>
          </a:p>
        </p:txBody>
      </p:sp>
      <p:pic>
        <p:nvPicPr>
          <p:cNvPr descr="image.png" id="243" name="Google Shape;243;p22"/>
          <p:cNvPicPr preferRelativeResize="0"/>
          <p:nvPr/>
        </p:nvPicPr>
        <p:blipFill rotWithShape="1">
          <a:blip r:embed="rId5">
            <a:alphaModFix/>
          </a:blip>
          <a:srcRect b="0" l="0" r="0" t="0"/>
          <a:stretch/>
        </p:blipFill>
        <p:spPr>
          <a:xfrm>
            <a:off x="6381750" y="2062162"/>
            <a:ext cx="5238750" cy="3810000"/>
          </a:xfrm>
          <a:prstGeom prst="rect">
            <a:avLst/>
          </a:prstGeom>
          <a:noFill/>
          <a:ln>
            <a:noFill/>
          </a:ln>
        </p:spPr>
      </p:pic>
      <p:sp>
        <p:nvSpPr>
          <p:cNvPr id="244" name="Google Shape;244;p22"/>
          <p:cNvSpPr txBox="1"/>
          <p:nvPr/>
        </p:nvSpPr>
        <p:spPr>
          <a:xfrm>
            <a:off x="571500" y="571500"/>
            <a:ext cx="11601450"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0284C7"/>
                </a:solidFill>
                <a:latin typeface="Plus Jakarta Sans"/>
                <a:ea typeface="Plus Jakarta Sans"/>
                <a:cs typeface="Plus Jakarta Sans"/>
                <a:sym typeface="Plus Jakarta Sans"/>
              </a:rPr>
              <a:t>Outlier Detection</a:t>
            </a:r>
            <a:endParaRPr/>
          </a:p>
        </p:txBody>
      </p:sp>
      <p:sp>
        <p:nvSpPr>
          <p:cNvPr id="245" name="Google Shape;245;p22"/>
          <p:cNvSpPr/>
          <p:nvPr/>
        </p:nvSpPr>
        <p:spPr>
          <a:xfrm>
            <a:off x="571500" y="1247775"/>
            <a:ext cx="110490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49" name="Shape 249"/>
        <p:cNvGrpSpPr/>
        <p:nvPr/>
      </p:nvGrpSpPr>
      <p:grpSpPr>
        <a:xfrm>
          <a:off x="0" y="0"/>
          <a:ext cx="0" cy="0"/>
          <a:chOff x="0" y="0"/>
          <a:chExt cx="0" cy="0"/>
        </a:xfrm>
      </p:grpSpPr>
      <p:pic>
        <p:nvPicPr>
          <p:cNvPr descr="image.png" id="250" name="Google Shape;250;p2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51" name="Google Shape;251;p23"/>
          <p:cNvPicPr preferRelativeResize="0"/>
          <p:nvPr/>
        </p:nvPicPr>
        <p:blipFill rotWithShape="1">
          <a:blip r:embed="rId4">
            <a:alphaModFix/>
          </a:blip>
          <a:srcRect b="0" l="0" r="0" t="0"/>
          <a:stretch/>
        </p:blipFill>
        <p:spPr>
          <a:xfrm>
            <a:off x="571500" y="1757362"/>
            <a:ext cx="5238750" cy="4419600"/>
          </a:xfrm>
          <a:prstGeom prst="rect">
            <a:avLst/>
          </a:prstGeom>
          <a:noFill/>
          <a:ln>
            <a:noFill/>
          </a:ln>
        </p:spPr>
      </p:pic>
      <p:pic>
        <p:nvPicPr>
          <p:cNvPr descr="image.png" id="252" name="Google Shape;252;p23"/>
          <p:cNvPicPr preferRelativeResize="0"/>
          <p:nvPr/>
        </p:nvPicPr>
        <p:blipFill rotWithShape="1">
          <a:blip r:embed="rId5">
            <a:alphaModFix/>
          </a:blip>
          <a:srcRect b="0" l="0" r="0" t="0"/>
          <a:stretch/>
        </p:blipFill>
        <p:spPr>
          <a:xfrm>
            <a:off x="6381750" y="1757362"/>
            <a:ext cx="5238750" cy="4419600"/>
          </a:xfrm>
          <a:prstGeom prst="rect">
            <a:avLst/>
          </a:prstGeom>
          <a:noFill/>
          <a:ln>
            <a:noFill/>
          </a:ln>
        </p:spPr>
      </p:pic>
      <p:sp>
        <p:nvSpPr>
          <p:cNvPr id="253" name="Google Shape;253;p23"/>
          <p:cNvSpPr txBox="1"/>
          <p:nvPr/>
        </p:nvSpPr>
        <p:spPr>
          <a:xfrm>
            <a:off x="962025" y="2147887"/>
            <a:ext cx="4680585" cy="3333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0F172A"/>
                </a:solidFill>
                <a:latin typeface="Plus Jakarta Sans SemiBold"/>
                <a:ea typeface="Plus Jakarta Sans SemiBold"/>
                <a:cs typeface="Plus Jakarta Sans SemiBold"/>
                <a:sym typeface="Plus Jakarta Sans SemiBold"/>
              </a:rPr>
              <a:t>The Challenge</a:t>
            </a:r>
            <a:endParaRPr/>
          </a:p>
        </p:txBody>
      </p:sp>
      <p:sp>
        <p:nvSpPr>
          <p:cNvPr id="254" name="Google Shape;254;p23"/>
          <p:cNvSpPr txBox="1"/>
          <p:nvPr/>
        </p:nvSpPr>
        <p:spPr>
          <a:xfrm>
            <a:off x="962025" y="2624137"/>
            <a:ext cx="4457700" cy="1828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75569"/>
                </a:solidFill>
                <a:latin typeface="Inter"/>
                <a:ea typeface="Inter"/>
                <a:cs typeface="Inter"/>
                <a:sym typeface="Inter"/>
              </a:rPr>
              <a:t>Raw timestamps (e.g., InvoiceDate) are not directly interpretable by most machine learning algorithms. They represent absolute moments rather than behavioral trends, making it difficult for models to capture cyclical or recency-based patterns.</a:t>
            </a:r>
            <a:endParaRPr/>
          </a:p>
        </p:txBody>
      </p:sp>
      <p:sp>
        <p:nvSpPr>
          <p:cNvPr id="255" name="Google Shape;255;p23"/>
          <p:cNvSpPr txBox="1"/>
          <p:nvPr/>
        </p:nvSpPr>
        <p:spPr>
          <a:xfrm>
            <a:off x="6772275" y="2147887"/>
            <a:ext cx="4680585" cy="3333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0F172A"/>
                </a:solidFill>
                <a:latin typeface="Plus Jakarta Sans SemiBold"/>
                <a:ea typeface="Plus Jakarta Sans SemiBold"/>
                <a:cs typeface="Plus Jakarta Sans SemiBold"/>
                <a:sym typeface="Plus Jakarta Sans SemiBold"/>
              </a:rPr>
              <a:t>The Extraction</a:t>
            </a:r>
            <a:endParaRPr/>
          </a:p>
        </p:txBody>
      </p:sp>
      <p:sp>
        <p:nvSpPr>
          <p:cNvPr id="256" name="Google Shape;256;p23"/>
          <p:cNvSpPr txBox="1"/>
          <p:nvPr/>
        </p:nvSpPr>
        <p:spPr>
          <a:xfrm>
            <a:off x="6772275" y="2624137"/>
            <a:ext cx="44577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75569"/>
                </a:solidFill>
                <a:latin typeface="Inter"/>
                <a:ea typeface="Inter"/>
                <a:cs typeface="Inter"/>
                <a:sym typeface="Inter"/>
              </a:rPr>
              <a:t>We decompose timestamps into structured numerical features:</a:t>
            </a:r>
            <a:endParaRPr/>
          </a:p>
        </p:txBody>
      </p:sp>
      <p:sp>
        <p:nvSpPr>
          <p:cNvPr id="257" name="Google Shape;257;p23"/>
          <p:cNvSpPr txBox="1"/>
          <p:nvPr/>
        </p:nvSpPr>
        <p:spPr>
          <a:xfrm>
            <a:off x="6905625" y="3386137"/>
            <a:ext cx="1047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475569"/>
                </a:solidFill>
                <a:latin typeface="Inter"/>
                <a:ea typeface="Inter"/>
                <a:cs typeface="Inter"/>
                <a:sym typeface="Inter"/>
              </a:rPr>
              <a:t>•</a:t>
            </a:r>
            <a:endParaRPr/>
          </a:p>
        </p:txBody>
      </p:sp>
      <p:sp>
        <p:nvSpPr>
          <p:cNvPr id="258" name="Google Shape;258;p23"/>
          <p:cNvSpPr txBox="1"/>
          <p:nvPr/>
        </p:nvSpPr>
        <p:spPr>
          <a:xfrm>
            <a:off x="7010400" y="3386137"/>
            <a:ext cx="4219575" cy="609600"/>
          </a:xfrm>
          <a:prstGeom prst="rect">
            <a:avLst/>
          </a:prstGeom>
          <a:noFill/>
          <a:ln>
            <a:noFill/>
          </a:ln>
        </p:spPr>
        <p:txBody>
          <a:bodyPr anchorCtr="0" anchor="t" bIns="0" lIns="104775"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475569"/>
                </a:solidFill>
                <a:latin typeface="Inter"/>
                <a:ea typeface="Inter"/>
                <a:cs typeface="Inter"/>
                <a:sym typeface="Inter"/>
              </a:rPr>
              <a:t>Year:</a:t>
            </a:r>
            <a:r>
              <a:rPr b="0" i="0" lang="en-US" sz="1500" u="none" cap="none" strike="noStrike">
                <a:solidFill>
                  <a:srgbClr val="475569"/>
                </a:solidFill>
                <a:latin typeface="Inter"/>
                <a:ea typeface="Inter"/>
                <a:cs typeface="Inter"/>
                <a:sym typeface="Inter"/>
              </a:rPr>
              <a:t> Captures cohort effects and macro trends.</a:t>
            </a:r>
            <a:endParaRPr/>
          </a:p>
        </p:txBody>
      </p:sp>
      <p:sp>
        <p:nvSpPr>
          <p:cNvPr id="259" name="Google Shape;259;p23"/>
          <p:cNvSpPr txBox="1"/>
          <p:nvPr/>
        </p:nvSpPr>
        <p:spPr>
          <a:xfrm>
            <a:off x="6905625" y="4186237"/>
            <a:ext cx="1047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475569"/>
                </a:solidFill>
                <a:latin typeface="Inter"/>
                <a:ea typeface="Inter"/>
                <a:cs typeface="Inter"/>
                <a:sym typeface="Inter"/>
              </a:rPr>
              <a:t>•</a:t>
            </a:r>
            <a:endParaRPr/>
          </a:p>
        </p:txBody>
      </p:sp>
      <p:sp>
        <p:nvSpPr>
          <p:cNvPr id="260" name="Google Shape;260;p23"/>
          <p:cNvSpPr txBox="1"/>
          <p:nvPr/>
        </p:nvSpPr>
        <p:spPr>
          <a:xfrm>
            <a:off x="7010400" y="4186237"/>
            <a:ext cx="4219575" cy="609600"/>
          </a:xfrm>
          <a:prstGeom prst="rect">
            <a:avLst/>
          </a:prstGeom>
          <a:noFill/>
          <a:ln>
            <a:noFill/>
          </a:ln>
        </p:spPr>
        <p:txBody>
          <a:bodyPr anchorCtr="0" anchor="t" bIns="0" lIns="104775"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475569"/>
                </a:solidFill>
                <a:latin typeface="Inter"/>
                <a:ea typeface="Inter"/>
                <a:cs typeface="Inter"/>
                <a:sym typeface="Inter"/>
              </a:rPr>
              <a:t>Month:</a:t>
            </a:r>
            <a:r>
              <a:rPr b="0" i="0" lang="en-US" sz="1500" u="none" cap="none" strike="noStrike">
                <a:solidFill>
                  <a:srgbClr val="475569"/>
                </a:solidFill>
                <a:latin typeface="Inter"/>
                <a:ea typeface="Inter"/>
                <a:cs typeface="Inter"/>
                <a:sym typeface="Inter"/>
              </a:rPr>
              <a:t> Encodes seasonality and holiday cycles.</a:t>
            </a:r>
            <a:endParaRPr/>
          </a:p>
        </p:txBody>
      </p:sp>
      <p:sp>
        <p:nvSpPr>
          <p:cNvPr id="261" name="Google Shape;261;p23"/>
          <p:cNvSpPr txBox="1"/>
          <p:nvPr/>
        </p:nvSpPr>
        <p:spPr>
          <a:xfrm>
            <a:off x="6905625" y="4986337"/>
            <a:ext cx="1047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475569"/>
                </a:solidFill>
                <a:latin typeface="Inter"/>
                <a:ea typeface="Inter"/>
                <a:cs typeface="Inter"/>
                <a:sym typeface="Inter"/>
              </a:rPr>
              <a:t>•</a:t>
            </a:r>
            <a:endParaRPr/>
          </a:p>
        </p:txBody>
      </p:sp>
      <p:sp>
        <p:nvSpPr>
          <p:cNvPr id="262" name="Google Shape;262;p23"/>
          <p:cNvSpPr txBox="1"/>
          <p:nvPr/>
        </p:nvSpPr>
        <p:spPr>
          <a:xfrm>
            <a:off x="7010400" y="4986337"/>
            <a:ext cx="4219575" cy="609600"/>
          </a:xfrm>
          <a:prstGeom prst="rect">
            <a:avLst/>
          </a:prstGeom>
          <a:noFill/>
          <a:ln>
            <a:noFill/>
          </a:ln>
        </p:spPr>
        <p:txBody>
          <a:bodyPr anchorCtr="0" anchor="t" bIns="0" lIns="104775"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475569"/>
                </a:solidFill>
                <a:latin typeface="Inter"/>
                <a:ea typeface="Inter"/>
                <a:cs typeface="Inter"/>
                <a:sym typeface="Inter"/>
              </a:rPr>
              <a:t>Recency:</a:t>
            </a:r>
            <a:r>
              <a:rPr b="0" i="0" lang="en-US" sz="1500" u="none" cap="none" strike="noStrike">
                <a:solidFill>
                  <a:srgbClr val="475569"/>
                </a:solidFill>
                <a:latin typeface="Inter"/>
                <a:ea typeface="Inter"/>
                <a:cs typeface="Inter"/>
                <a:sym typeface="Inter"/>
              </a:rPr>
              <a:t> Measures time since last interaction.</a:t>
            </a:r>
            <a:endParaRPr/>
          </a:p>
        </p:txBody>
      </p:sp>
      <p:sp>
        <p:nvSpPr>
          <p:cNvPr id="263" name="Google Shape;263;p23"/>
          <p:cNvSpPr txBox="1"/>
          <p:nvPr/>
        </p:nvSpPr>
        <p:spPr>
          <a:xfrm>
            <a:off x="571500" y="571500"/>
            <a:ext cx="11601450"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0284C7"/>
                </a:solidFill>
                <a:latin typeface="Plus Jakarta Sans"/>
                <a:ea typeface="Plus Jakarta Sans"/>
                <a:cs typeface="Plus Jakarta Sans"/>
                <a:sym typeface="Plus Jakarta Sans"/>
              </a:rPr>
              <a:t>Temporal Feature Engineering</a:t>
            </a:r>
            <a:endParaRPr/>
          </a:p>
        </p:txBody>
      </p:sp>
      <p:sp>
        <p:nvSpPr>
          <p:cNvPr id="264" name="Google Shape;264;p23"/>
          <p:cNvSpPr/>
          <p:nvPr/>
        </p:nvSpPr>
        <p:spPr>
          <a:xfrm>
            <a:off x="571500" y="1247775"/>
            <a:ext cx="110490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68" name="Shape 268"/>
        <p:cNvGrpSpPr/>
        <p:nvPr/>
      </p:nvGrpSpPr>
      <p:grpSpPr>
        <a:xfrm>
          <a:off x="0" y="0"/>
          <a:ext cx="0" cy="0"/>
          <a:chOff x="0" y="0"/>
          <a:chExt cx="0" cy="0"/>
        </a:xfrm>
      </p:grpSpPr>
      <p:pic>
        <p:nvPicPr>
          <p:cNvPr descr="image.png" id="269" name="Google Shape;269;p2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70" name="Google Shape;270;p24"/>
          <p:cNvSpPr txBox="1"/>
          <p:nvPr/>
        </p:nvSpPr>
        <p:spPr>
          <a:xfrm>
            <a:off x="1809750" y="2271712"/>
            <a:ext cx="904875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0F172A"/>
                </a:solidFill>
                <a:latin typeface="Inter SemiBold"/>
                <a:ea typeface="Inter SemiBold"/>
                <a:cs typeface="Inter SemiBold"/>
                <a:sym typeface="Inter SemiBold"/>
              </a:rPr>
              <a:t>Recency indicates retention:</a:t>
            </a:r>
            <a:r>
              <a:rPr b="0" i="0" lang="en-US" sz="1500" u="none" cap="none" strike="noStrike">
                <a:solidFill>
                  <a:srgbClr val="475569"/>
                </a:solidFill>
                <a:latin typeface="Inter"/>
                <a:ea typeface="Inter"/>
                <a:cs typeface="Inter"/>
                <a:sym typeface="Inter"/>
              </a:rPr>
              <a:t> Customers who have interacted recently present a statistically lower risk of churning.</a:t>
            </a:r>
            <a:endParaRPr/>
          </a:p>
        </p:txBody>
      </p:sp>
      <p:sp>
        <p:nvSpPr>
          <p:cNvPr id="271" name="Google Shape;271;p24"/>
          <p:cNvSpPr txBox="1"/>
          <p:nvPr/>
        </p:nvSpPr>
        <p:spPr>
          <a:xfrm>
            <a:off x="1809750" y="3119437"/>
            <a:ext cx="904875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0F172A"/>
                </a:solidFill>
                <a:latin typeface="Inter SemiBold"/>
                <a:ea typeface="Inter SemiBold"/>
                <a:cs typeface="Inter SemiBold"/>
                <a:sym typeface="Inter SemiBold"/>
              </a:rPr>
              <a:t>Seasonality dictates spending:</a:t>
            </a:r>
            <a:r>
              <a:rPr b="0" i="0" lang="en-US" sz="1500" u="none" cap="none" strike="noStrike">
                <a:solidFill>
                  <a:srgbClr val="475569"/>
                </a:solidFill>
                <a:latin typeface="Inter"/>
                <a:ea typeface="Inter"/>
                <a:cs typeface="Inter"/>
                <a:sym typeface="Inter"/>
              </a:rPr>
              <a:t> Monthly purchase patterns effectively capture holiday rushes, promotional cycles, and recurring consumption habits.</a:t>
            </a:r>
            <a:endParaRPr/>
          </a:p>
        </p:txBody>
      </p:sp>
      <p:sp>
        <p:nvSpPr>
          <p:cNvPr id="272" name="Google Shape;272;p24"/>
          <p:cNvSpPr txBox="1"/>
          <p:nvPr/>
        </p:nvSpPr>
        <p:spPr>
          <a:xfrm>
            <a:off x="1809750" y="3967162"/>
            <a:ext cx="904875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0F172A"/>
                </a:solidFill>
                <a:latin typeface="Inter SemiBold"/>
                <a:ea typeface="Inter SemiBold"/>
                <a:cs typeface="Inter SemiBold"/>
                <a:sym typeface="Inter SemiBold"/>
              </a:rPr>
              <a:t>Enhancing clustering:</a:t>
            </a:r>
            <a:r>
              <a:rPr b="0" i="0" lang="en-US" sz="1500" u="none" cap="none" strike="noStrike">
                <a:solidFill>
                  <a:srgbClr val="475569"/>
                </a:solidFill>
                <a:latin typeface="Inter"/>
                <a:ea typeface="Inter"/>
                <a:cs typeface="Inter"/>
                <a:sym typeface="Inter"/>
              </a:rPr>
              <a:t> Providing explicit time signals allows algorithms like K-Means to group users by behavioral loyalty rather than just total spend.</a:t>
            </a:r>
            <a:endParaRPr/>
          </a:p>
        </p:txBody>
      </p:sp>
      <p:sp>
        <p:nvSpPr>
          <p:cNvPr id="273" name="Google Shape;273;p24"/>
          <p:cNvSpPr txBox="1"/>
          <p:nvPr/>
        </p:nvSpPr>
        <p:spPr>
          <a:xfrm>
            <a:off x="1809750" y="4814887"/>
            <a:ext cx="904875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0F172A"/>
                </a:solidFill>
                <a:latin typeface="Inter SemiBold"/>
                <a:ea typeface="Inter SemiBold"/>
                <a:cs typeface="Inter SemiBold"/>
                <a:sym typeface="Inter SemiBold"/>
              </a:rPr>
              <a:t>Model performance boost:</a:t>
            </a:r>
            <a:r>
              <a:rPr b="0" i="0" lang="en-US" sz="1500" u="none" cap="none" strike="noStrike">
                <a:solidFill>
                  <a:srgbClr val="475569"/>
                </a:solidFill>
                <a:latin typeface="Inter"/>
                <a:ea typeface="Inter"/>
                <a:cs typeface="Inter"/>
                <a:sym typeface="Inter"/>
              </a:rPr>
              <a:t> These features transform raw logs into structured insights, establishing the foundation for all downstream predictive models.</a:t>
            </a:r>
            <a:endParaRPr/>
          </a:p>
        </p:txBody>
      </p:sp>
      <p:pic>
        <p:nvPicPr>
          <p:cNvPr descr="image.png" id="274" name="Google Shape;274;p24"/>
          <p:cNvPicPr preferRelativeResize="0"/>
          <p:nvPr/>
        </p:nvPicPr>
        <p:blipFill rotWithShape="1">
          <a:blip r:embed="rId4">
            <a:alphaModFix/>
          </a:blip>
          <a:srcRect b="0" l="0" r="0" t="0"/>
          <a:stretch/>
        </p:blipFill>
        <p:spPr>
          <a:xfrm>
            <a:off x="1333500" y="2300287"/>
            <a:ext cx="228600" cy="247650"/>
          </a:xfrm>
          <a:prstGeom prst="rect">
            <a:avLst/>
          </a:prstGeom>
          <a:noFill/>
          <a:ln>
            <a:noFill/>
          </a:ln>
        </p:spPr>
      </p:pic>
      <p:pic>
        <p:nvPicPr>
          <p:cNvPr descr="image.png" id="275" name="Google Shape;275;p24"/>
          <p:cNvPicPr preferRelativeResize="0"/>
          <p:nvPr/>
        </p:nvPicPr>
        <p:blipFill rotWithShape="1">
          <a:blip r:embed="rId5">
            <a:alphaModFix/>
          </a:blip>
          <a:srcRect b="0" l="0" r="0" t="0"/>
          <a:stretch/>
        </p:blipFill>
        <p:spPr>
          <a:xfrm>
            <a:off x="1333500" y="3148012"/>
            <a:ext cx="200025" cy="247650"/>
          </a:xfrm>
          <a:prstGeom prst="rect">
            <a:avLst/>
          </a:prstGeom>
          <a:noFill/>
          <a:ln>
            <a:noFill/>
          </a:ln>
        </p:spPr>
      </p:pic>
      <p:pic>
        <p:nvPicPr>
          <p:cNvPr descr="image.png" id="276" name="Google Shape;276;p24"/>
          <p:cNvPicPr preferRelativeResize="0"/>
          <p:nvPr/>
        </p:nvPicPr>
        <p:blipFill rotWithShape="1">
          <a:blip r:embed="rId6">
            <a:alphaModFix/>
          </a:blip>
          <a:srcRect b="0" l="0" r="0" t="0"/>
          <a:stretch/>
        </p:blipFill>
        <p:spPr>
          <a:xfrm>
            <a:off x="1333500" y="3995737"/>
            <a:ext cx="228600" cy="247650"/>
          </a:xfrm>
          <a:prstGeom prst="rect">
            <a:avLst/>
          </a:prstGeom>
          <a:noFill/>
          <a:ln>
            <a:noFill/>
          </a:ln>
        </p:spPr>
      </p:pic>
      <p:pic>
        <p:nvPicPr>
          <p:cNvPr descr="image.png" id="277" name="Google Shape;277;p24"/>
          <p:cNvPicPr preferRelativeResize="0"/>
          <p:nvPr/>
        </p:nvPicPr>
        <p:blipFill rotWithShape="1">
          <a:blip r:embed="rId7">
            <a:alphaModFix/>
          </a:blip>
          <a:srcRect b="0" l="0" r="0" t="0"/>
          <a:stretch/>
        </p:blipFill>
        <p:spPr>
          <a:xfrm>
            <a:off x="1333500" y="4843462"/>
            <a:ext cx="228600" cy="247650"/>
          </a:xfrm>
          <a:prstGeom prst="rect">
            <a:avLst/>
          </a:prstGeom>
          <a:noFill/>
          <a:ln>
            <a:noFill/>
          </a:ln>
        </p:spPr>
      </p:pic>
      <p:sp>
        <p:nvSpPr>
          <p:cNvPr id="278" name="Google Shape;278;p24"/>
          <p:cNvSpPr txBox="1"/>
          <p:nvPr/>
        </p:nvSpPr>
        <p:spPr>
          <a:xfrm>
            <a:off x="571500" y="571500"/>
            <a:ext cx="11601450"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0284C7"/>
                </a:solidFill>
                <a:latin typeface="Plus Jakarta Sans"/>
                <a:ea typeface="Plus Jakarta Sans"/>
                <a:cs typeface="Plus Jakarta Sans"/>
                <a:sym typeface="Plus Jakarta Sans"/>
              </a:rPr>
              <a:t>Why Temporal Features Matter</a:t>
            </a:r>
            <a:endParaRPr/>
          </a:p>
        </p:txBody>
      </p:sp>
      <p:sp>
        <p:nvSpPr>
          <p:cNvPr id="279" name="Google Shape;279;p24"/>
          <p:cNvSpPr/>
          <p:nvPr/>
        </p:nvSpPr>
        <p:spPr>
          <a:xfrm>
            <a:off x="571500" y="1247775"/>
            <a:ext cx="110490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83" name="Shape 283"/>
        <p:cNvGrpSpPr/>
        <p:nvPr/>
      </p:nvGrpSpPr>
      <p:grpSpPr>
        <a:xfrm>
          <a:off x="0" y="0"/>
          <a:ext cx="0" cy="0"/>
          <a:chOff x="0" y="0"/>
          <a:chExt cx="0" cy="0"/>
        </a:xfrm>
      </p:grpSpPr>
      <p:pic>
        <p:nvPicPr>
          <p:cNvPr descr="image.png" id="284" name="Google Shape;284;p2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85" name="Google Shape;285;p25"/>
          <p:cNvSpPr txBox="1"/>
          <p:nvPr/>
        </p:nvSpPr>
        <p:spPr>
          <a:xfrm>
            <a:off x="2625566" y="2466975"/>
            <a:ext cx="6940867" cy="6667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200" u="none" cap="none" strike="noStrike">
                <a:solidFill>
                  <a:srgbClr val="0284C7"/>
                </a:solidFill>
                <a:latin typeface="Plus Jakarta Sans"/>
                <a:ea typeface="Plus Jakarta Sans"/>
                <a:cs typeface="Plus Jakarta Sans"/>
                <a:sym typeface="Plus Jakarta Sans"/>
              </a:rPr>
              <a:t>Dimensionality Reduction</a:t>
            </a:r>
            <a:endParaRPr/>
          </a:p>
        </p:txBody>
      </p:sp>
      <p:sp>
        <p:nvSpPr>
          <p:cNvPr id="286" name="Google Shape;286;p25"/>
          <p:cNvSpPr/>
          <p:nvPr/>
        </p:nvSpPr>
        <p:spPr>
          <a:xfrm>
            <a:off x="5715000" y="3609975"/>
            <a:ext cx="762000" cy="38100"/>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7" name="Google Shape;287;p25"/>
          <p:cNvSpPr txBox="1"/>
          <p:nvPr/>
        </p:nvSpPr>
        <p:spPr>
          <a:xfrm>
            <a:off x="2286000" y="3933825"/>
            <a:ext cx="7620000" cy="304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475569"/>
                </a:solidFill>
                <a:latin typeface="Inter"/>
                <a:ea typeface="Inter"/>
                <a:cs typeface="Inter"/>
                <a:sym typeface="Inter"/>
              </a:rPr>
              <a:t>Overcoming the curse of dimensionality using Principal Component Analysis (PCA).</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91" name="Shape 291"/>
        <p:cNvGrpSpPr/>
        <p:nvPr/>
      </p:nvGrpSpPr>
      <p:grpSpPr>
        <a:xfrm>
          <a:off x="0" y="0"/>
          <a:ext cx="0" cy="0"/>
          <a:chOff x="0" y="0"/>
          <a:chExt cx="0" cy="0"/>
        </a:xfrm>
      </p:grpSpPr>
      <p:pic>
        <p:nvPicPr>
          <p:cNvPr descr="image.png" id="292" name="Google Shape;292;p2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93" name="Google Shape;293;p26"/>
          <p:cNvSpPr txBox="1"/>
          <p:nvPr/>
        </p:nvSpPr>
        <p:spPr>
          <a:xfrm>
            <a:off x="571500" y="2098476"/>
            <a:ext cx="11049000" cy="6703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650" u="none" cap="none" strike="noStrike">
                <a:solidFill>
                  <a:srgbClr val="475569"/>
                </a:solidFill>
                <a:latin typeface="Inter"/>
                <a:ea typeface="Inter"/>
                <a:cs typeface="Inter"/>
                <a:sym typeface="Inter"/>
              </a:rPr>
              <a:t>We standard scaled the data and reduced the feature space to </a:t>
            </a:r>
            <a:r>
              <a:rPr b="1" i="0" lang="en-US" sz="1650" u="none" cap="none" strike="noStrike">
                <a:solidFill>
                  <a:srgbClr val="475569"/>
                </a:solidFill>
                <a:latin typeface="Inter"/>
                <a:ea typeface="Inter"/>
                <a:cs typeface="Inter"/>
                <a:sym typeface="Inter"/>
              </a:rPr>
              <a:t>10 principal components</a:t>
            </a:r>
            <a:r>
              <a:rPr b="0" i="0" lang="en-US" sz="1650" u="none" cap="none" strike="noStrike">
                <a:solidFill>
                  <a:srgbClr val="475569"/>
                </a:solidFill>
                <a:latin typeface="Inter"/>
                <a:ea typeface="Inter"/>
                <a:cs typeface="Inter"/>
                <a:sym typeface="Inter"/>
              </a:rPr>
              <a:t>. This projection achieves several critical improvements:</a:t>
            </a:r>
            <a:endParaRPr/>
          </a:p>
        </p:txBody>
      </p:sp>
      <p:sp>
        <p:nvSpPr>
          <p:cNvPr id="294" name="Google Shape;294;p26"/>
          <p:cNvSpPr txBox="1"/>
          <p:nvPr/>
        </p:nvSpPr>
        <p:spPr>
          <a:xfrm>
            <a:off x="1809750" y="3054548"/>
            <a:ext cx="904875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0F172A"/>
                </a:solidFill>
                <a:latin typeface="Inter SemiBold"/>
                <a:ea typeface="Inter SemiBold"/>
                <a:cs typeface="Inter SemiBold"/>
                <a:sym typeface="Inter SemiBold"/>
              </a:rPr>
              <a:t>Reduces Noise:</a:t>
            </a:r>
            <a:r>
              <a:rPr b="0" i="0" lang="en-US" sz="1500" u="none" cap="none" strike="noStrike">
                <a:solidFill>
                  <a:srgbClr val="475569"/>
                </a:solidFill>
                <a:latin typeface="Inter"/>
                <a:ea typeface="Inter"/>
                <a:cs typeface="Inter"/>
                <a:sym typeface="Inter"/>
              </a:rPr>
              <a:t> Eliminates redundancy in highly correlated customer behavioral features.</a:t>
            </a:r>
            <a:endParaRPr/>
          </a:p>
        </p:txBody>
      </p:sp>
      <p:sp>
        <p:nvSpPr>
          <p:cNvPr id="295" name="Google Shape;295;p26"/>
          <p:cNvSpPr txBox="1"/>
          <p:nvPr/>
        </p:nvSpPr>
        <p:spPr>
          <a:xfrm>
            <a:off x="1809750" y="3597473"/>
            <a:ext cx="904875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0F172A"/>
                </a:solidFill>
                <a:latin typeface="Inter SemiBold"/>
                <a:ea typeface="Inter SemiBold"/>
                <a:cs typeface="Inter SemiBold"/>
                <a:sym typeface="Inter SemiBold"/>
              </a:rPr>
              <a:t>Computational Efficiency:</a:t>
            </a:r>
            <a:r>
              <a:rPr b="0" i="0" lang="en-US" sz="1500" u="none" cap="none" strike="noStrike">
                <a:solidFill>
                  <a:srgbClr val="475569"/>
                </a:solidFill>
                <a:latin typeface="Inter"/>
                <a:ea typeface="Inter"/>
                <a:cs typeface="Inter"/>
                <a:sym typeface="Inter"/>
              </a:rPr>
              <a:t> Significantly decreases training time across complex classification models.</a:t>
            </a:r>
            <a:endParaRPr/>
          </a:p>
        </p:txBody>
      </p:sp>
      <p:sp>
        <p:nvSpPr>
          <p:cNvPr id="296" name="Google Shape;296;p26"/>
          <p:cNvSpPr txBox="1"/>
          <p:nvPr/>
        </p:nvSpPr>
        <p:spPr>
          <a:xfrm>
            <a:off x="1809750" y="4445198"/>
            <a:ext cx="904875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0F172A"/>
                </a:solidFill>
                <a:latin typeface="Inter SemiBold"/>
                <a:ea typeface="Inter SemiBold"/>
                <a:cs typeface="Inter SemiBold"/>
                <a:sym typeface="Inter SemiBold"/>
              </a:rPr>
              <a:t>Improves Separation:</a:t>
            </a:r>
            <a:r>
              <a:rPr b="0" i="0" lang="en-US" sz="1500" u="none" cap="none" strike="noStrike">
                <a:solidFill>
                  <a:srgbClr val="475569"/>
                </a:solidFill>
                <a:latin typeface="Inter"/>
                <a:ea typeface="Inter"/>
                <a:cs typeface="Inter"/>
                <a:sym typeface="Inter"/>
              </a:rPr>
              <a:t> Enhances the clarity of boundary margins for K-Means clustering.</a:t>
            </a:r>
            <a:endParaRPr/>
          </a:p>
        </p:txBody>
      </p:sp>
      <p:sp>
        <p:nvSpPr>
          <p:cNvPr id="297" name="Google Shape;297;p26"/>
          <p:cNvSpPr txBox="1"/>
          <p:nvPr/>
        </p:nvSpPr>
        <p:spPr>
          <a:xfrm>
            <a:off x="1809750" y="4988123"/>
            <a:ext cx="904875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0F172A"/>
                </a:solidFill>
                <a:latin typeface="Inter SemiBold"/>
                <a:ea typeface="Inter SemiBold"/>
                <a:cs typeface="Inter SemiBold"/>
                <a:sym typeface="Inter SemiBold"/>
              </a:rPr>
              <a:t>Prevents Overfitting:</a:t>
            </a:r>
            <a:r>
              <a:rPr b="0" i="0" lang="en-US" sz="1500" u="none" cap="none" strike="noStrike">
                <a:solidFill>
                  <a:srgbClr val="475569"/>
                </a:solidFill>
                <a:latin typeface="Inter"/>
                <a:ea typeface="Inter"/>
                <a:cs typeface="Inter"/>
                <a:sym typeface="Inter"/>
              </a:rPr>
              <a:t> Simplifies the feature space allowing churn models to generalize better on unseen data.</a:t>
            </a:r>
            <a:endParaRPr/>
          </a:p>
        </p:txBody>
      </p:sp>
      <p:pic>
        <p:nvPicPr>
          <p:cNvPr descr="image.png" id="298" name="Google Shape;298;p26"/>
          <p:cNvPicPr preferRelativeResize="0"/>
          <p:nvPr/>
        </p:nvPicPr>
        <p:blipFill rotWithShape="1">
          <a:blip r:embed="rId4">
            <a:alphaModFix/>
          </a:blip>
          <a:srcRect b="0" l="0" r="0" t="0"/>
          <a:stretch/>
        </p:blipFill>
        <p:spPr>
          <a:xfrm>
            <a:off x="1333500" y="3083123"/>
            <a:ext cx="200025" cy="247650"/>
          </a:xfrm>
          <a:prstGeom prst="rect">
            <a:avLst/>
          </a:prstGeom>
          <a:noFill/>
          <a:ln>
            <a:noFill/>
          </a:ln>
        </p:spPr>
      </p:pic>
      <p:pic>
        <p:nvPicPr>
          <p:cNvPr descr="image.png" id="299" name="Google Shape;299;p26"/>
          <p:cNvPicPr preferRelativeResize="0"/>
          <p:nvPr/>
        </p:nvPicPr>
        <p:blipFill rotWithShape="1">
          <a:blip r:embed="rId5">
            <a:alphaModFix/>
          </a:blip>
          <a:srcRect b="0" l="0" r="0" t="0"/>
          <a:stretch/>
        </p:blipFill>
        <p:spPr>
          <a:xfrm>
            <a:off x="1333500" y="3626048"/>
            <a:ext cx="200025" cy="247650"/>
          </a:xfrm>
          <a:prstGeom prst="rect">
            <a:avLst/>
          </a:prstGeom>
          <a:noFill/>
          <a:ln>
            <a:noFill/>
          </a:ln>
        </p:spPr>
      </p:pic>
      <p:pic>
        <p:nvPicPr>
          <p:cNvPr descr="image.png" id="300" name="Google Shape;300;p26"/>
          <p:cNvPicPr preferRelativeResize="0"/>
          <p:nvPr/>
        </p:nvPicPr>
        <p:blipFill rotWithShape="1">
          <a:blip r:embed="rId6">
            <a:alphaModFix/>
          </a:blip>
          <a:srcRect b="0" l="0" r="0" t="0"/>
          <a:stretch/>
        </p:blipFill>
        <p:spPr>
          <a:xfrm>
            <a:off x="1333500" y="4473773"/>
            <a:ext cx="285750" cy="247650"/>
          </a:xfrm>
          <a:prstGeom prst="rect">
            <a:avLst/>
          </a:prstGeom>
          <a:noFill/>
          <a:ln>
            <a:noFill/>
          </a:ln>
        </p:spPr>
      </p:pic>
      <p:pic>
        <p:nvPicPr>
          <p:cNvPr descr="image.png" id="301" name="Google Shape;301;p26"/>
          <p:cNvPicPr preferRelativeResize="0"/>
          <p:nvPr/>
        </p:nvPicPr>
        <p:blipFill rotWithShape="1">
          <a:blip r:embed="rId7">
            <a:alphaModFix/>
          </a:blip>
          <a:srcRect b="0" l="0" r="0" t="0"/>
          <a:stretch/>
        </p:blipFill>
        <p:spPr>
          <a:xfrm>
            <a:off x="1333500" y="5016698"/>
            <a:ext cx="228600" cy="247650"/>
          </a:xfrm>
          <a:prstGeom prst="rect">
            <a:avLst/>
          </a:prstGeom>
          <a:noFill/>
          <a:ln>
            <a:noFill/>
          </a:ln>
        </p:spPr>
      </p:pic>
      <p:sp>
        <p:nvSpPr>
          <p:cNvPr id="302" name="Google Shape;302;p26"/>
          <p:cNvSpPr txBox="1"/>
          <p:nvPr/>
        </p:nvSpPr>
        <p:spPr>
          <a:xfrm>
            <a:off x="571500" y="571500"/>
            <a:ext cx="11601450"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0284C7"/>
                </a:solidFill>
                <a:latin typeface="Plus Jakarta Sans"/>
                <a:ea typeface="Plus Jakarta Sans"/>
                <a:cs typeface="Plus Jakarta Sans"/>
                <a:sym typeface="Plus Jakarta Sans"/>
              </a:rPr>
              <a:t>The Impact of PCA</a:t>
            </a:r>
            <a:endParaRPr/>
          </a:p>
        </p:txBody>
      </p:sp>
      <p:sp>
        <p:nvSpPr>
          <p:cNvPr id="303" name="Google Shape;303;p26"/>
          <p:cNvSpPr/>
          <p:nvPr/>
        </p:nvSpPr>
        <p:spPr>
          <a:xfrm>
            <a:off x="571500" y="1247775"/>
            <a:ext cx="110490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07" name="Shape 307"/>
        <p:cNvGrpSpPr/>
        <p:nvPr/>
      </p:nvGrpSpPr>
      <p:grpSpPr>
        <a:xfrm>
          <a:off x="0" y="0"/>
          <a:ext cx="0" cy="0"/>
          <a:chOff x="0" y="0"/>
          <a:chExt cx="0" cy="0"/>
        </a:xfrm>
      </p:grpSpPr>
      <p:pic>
        <p:nvPicPr>
          <p:cNvPr descr="image.png" id="308" name="Google Shape;308;p2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09" name="Google Shape;309;p27"/>
          <p:cNvPicPr preferRelativeResize="0"/>
          <p:nvPr/>
        </p:nvPicPr>
        <p:blipFill rotWithShape="1">
          <a:blip r:embed="rId4">
            <a:alphaModFix/>
          </a:blip>
          <a:srcRect b="0" l="0" r="0" t="0"/>
          <a:stretch/>
        </p:blipFill>
        <p:spPr>
          <a:xfrm>
            <a:off x="571500" y="1927919"/>
            <a:ext cx="2547937" cy="4078485"/>
          </a:xfrm>
          <a:prstGeom prst="rect">
            <a:avLst/>
          </a:prstGeom>
          <a:noFill/>
          <a:ln>
            <a:noFill/>
          </a:ln>
        </p:spPr>
      </p:pic>
      <p:pic>
        <p:nvPicPr>
          <p:cNvPr descr="image.png" id="310" name="Google Shape;310;p27"/>
          <p:cNvPicPr preferRelativeResize="0"/>
          <p:nvPr/>
        </p:nvPicPr>
        <p:blipFill rotWithShape="1">
          <a:blip r:embed="rId5">
            <a:alphaModFix/>
          </a:blip>
          <a:srcRect b="0" l="0" r="0" t="0"/>
          <a:stretch/>
        </p:blipFill>
        <p:spPr>
          <a:xfrm>
            <a:off x="3405187" y="1927919"/>
            <a:ext cx="2547937" cy="4078485"/>
          </a:xfrm>
          <a:prstGeom prst="rect">
            <a:avLst/>
          </a:prstGeom>
          <a:noFill/>
          <a:ln>
            <a:noFill/>
          </a:ln>
        </p:spPr>
      </p:pic>
      <p:pic>
        <p:nvPicPr>
          <p:cNvPr descr="image.png" id="311" name="Google Shape;311;p27"/>
          <p:cNvPicPr preferRelativeResize="0"/>
          <p:nvPr/>
        </p:nvPicPr>
        <p:blipFill rotWithShape="1">
          <a:blip r:embed="rId6">
            <a:alphaModFix/>
          </a:blip>
          <a:srcRect b="0" l="0" r="0" t="0"/>
          <a:stretch/>
        </p:blipFill>
        <p:spPr>
          <a:xfrm>
            <a:off x="6238875" y="1927919"/>
            <a:ext cx="2547937" cy="4078485"/>
          </a:xfrm>
          <a:prstGeom prst="rect">
            <a:avLst/>
          </a:prstGeom>
          <a:noFill/>
          <a:ln>
            <a:noFill/>
          </a:ln>
        </p:spPr>
      </p:pic>
      <p:pic>
        <p:nvPicPr>
          <p:cNvPr descr="image.png" id="312" name="Google Shape;312;p27"/>
          <p:cNvPicPr preferRelativeResize="0"/>
          <p:nvPr/>
        </p:nvPicPr>
        <p:blipFill rotWithShape="1">
          <a:blip r:embed="rId5">
            <a:alphaModFix/>
          </a:blip>
          <a:srcRect b="0" l="0" r="0" t="0"/>
          <a:stretch/>
        </p:blipFill>
        <p:spPr>
          <a:xfrm>
            <a:off x="9072562" y="1927919"/>
            <a:ext cx="2547937" cy="4078485"/>
          </a:xfrm>
          <a:prstGeom prst="rect">
            <a:avLst/>
          </a:prstGeom>
          <a:noFill/>
          <a:ln>
            <a:noFill/>
          </a:ln>
        </p:spPr>
      </p:pic>
      <p:pic>
        <p:nvPicPr>
          <p:cNvPr descr="image.png" id="313" name="Google Shape;313;p27"/>
          <p:cNvPicPr preferRelativeResize="0"/>
          <p:nvPr/>
        </p:nvPicPr>
        <p:blipFill rotWithShape="1">
          <a:blip r:embed="rId7">
            <a:alphaModFix/>
          </a:blip>
          <a:srcRect b="0" l="0" r="0" t="0"/>
          <a:stretch/>
        </p:blipFill>
        <p:spPr>
          <a:xfrm>
            <a:off x="1416843" y="2318444"/>
            <a:ext cx="857250" cy="857250"/>
          </a:xfrm>
          <a:prstGeom prst="rect">
            <a:avLst/>
          </a:prstGeom>
          <a:noFill/>
          <a:ln>
            <a:noFill/>
          </a:ln>
        </p:spPr>
      </p:pic>
      <p:sp>
        <p:nvSpPr>
          <p:cNvPr id="314" name="Google Shape;314;p27"/>
          <p:cNvSpPr txBox="1"/>
          <p:nvPr/>
        </p:nvSpPr>
        <p:spPr>
          <a:xfrm>
            <a:off x="1105376" y="3413819"/>
            <a:ext cx="1480185" cy="6667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0F172A"/>
                </a:solidFill>
                <a:latin typeface="Plus Jakarta Sans SemiBold"/>
                <a:ea typeface="Plus Jakarta Sans SemiBold"/>
                <a:cs typeface="Plus Jakarta Sans SemiBold"/>
                <a:sym typeface="Plus Jakarta Sans SemiBold"/>
              </a:rPr>
              <a:t>VIP</a:t>
            </a:r>
            <a:br>
              <a:rPr b="0" i="0" lang="en-US" sz="1800" u="none" cap="none" strike="noStrike">
                <a:solidFill>
                  <a:schemeClr val="dk1"/>
                </a:solidFill>
                <a:latin typeface="Calibri"/>
                <a:ea typeface="Calibri"/>
                <a:cs typeface="Calibri"/>
                <a:sym typeface="Calibri"/>
              </a:rPr>
            </a:br>
            <a:r>
              <a:rPr b="0" i="0" lang="en-US" sz="2100" u="none" cap="none" strike="noStrike">
                <a:solidFill>
                  <a:srgbClr val="0F172A"/>
                </a:solidFill>
                <a:latin typeface="Plus Jakarta Sans SemiBold"/>
                <a:ea typeface="Plus Jakarta Sans SemiBold"/>
                <a:cs typeface="Plus Jakarta Sans SemiBold"/>
                <a:sym typeface="Plus Jakarta Sans SemiBold"/>
              </a:rPr>
              <a:t> Customers</a:t>
            </a:r>
            <a:endParaRPr/>
          </a:p>
        </p:txBody>
      </p:sp>
      <p:sp>
        <p:nvSpPr>
          <p:cNvPr id="315" name="Google Shape;315;p27"/>
          <p:cNvSpPr txBox="1"/>
          <p:nvPr/>
        </p:nvSpPr>
        <p:spPr>
          <a:xfrm>
            <a:off x="866775" y="4366319"/>
            <a:ext cx="1957387" cy="109716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475569"/>
                </a:solidFill>
                <a:latin typeface="Inter"/>
                <a:ea typeface="Inter"/>
                <a:cs typeface="Inter"/>
                <a:sym typeface="Inter"/>
              </a:rPr>
              <a:t>High spending levels with consistent, high-frequency engagement.</a:t>
            </a:r>
            <a:endParaRPr/>
          </a:p>
        </p:txBody>
      </p:sp>
      <p:pic>
        <p:nvPicPr>
          <p:cNvPr descr="image.png" id="316" name="Google Shape;316;p27"/>
          <p:cNvPicPr preferRelativeResize="0"/>
          <p:nvPr/>
        </p:nvPicPr>
        <p:blipFill rotWithShape="1">
          <a:blip r:embed="rId8">
            <a:alphaModFix/>
          </a:blip>
          <a:srcRect b="0" l="0" r="0" t="0"/>
          <a:stretch/>
        </p:blipFill>
        <p:spPr>
          <a:xfrm>
            <a:off x="4250531" y="2318444"/>
            <a:ext cx="857250" cy="857250"/>
          </a:xfrm>
          <a:prstGeom prst="rect">
            <a:avLst/>
          </a:prstGeom>
          <a:noFill/>
          <a:ln>
            <a:noFill/>
          </a:ln>
        </p:spPr>
      </p:pic>
      <p:sp>
        <p:nvSpPr>
          <p:cNvPr id="317" name="Google Shape;317;p27"/>
          <p:cNvSpPr txBox="1"/>
          <p:nvPr/>
        </p:nvSpPr>
        <p:spPr>
          <a:xfrm>
            <a:off x="3939063" y="3413819"/>
            <a:ext cx="1480185" cy="6667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0F172A"/>
                </a:solidFill>
                <a:latin typeface="Plus Jakarta Sans SemiBold"/>
                <a:ea typeface="Plus Jakarta Sans SemiBold"/>
                <a:cs typeface="Plus Jakarta Sans SemiBold"/>
                <a:sym typeface="Plus Jakarta Sans SemiBold"/>
              </a:rPr>
              <a:t>Stable</a:t>
            </a:r>
            <a:br>
              <a:rPr b="0" i="0" lang="en-US" sz="1800" u="none" cap="none" strike="noStrike">
                <a:solidFill>
                  <a:schemeClr val="dk1"/>
                </a:solidFill>
                <a:latin typeface="Calibri"/>
                <a:ea typeface="Calibri"/>
                <a:cs typeface="Calibri"/>
                <a:sym typeface="Calibri"/>
              </a:rPr>
            </a:br>
            <a:r>
              <a:rPr b="0" i="0" lang="en-US" sz="2100" u="none" cap="none" strike="noStrike">
                <a:solidFill>
                  <a:srgbClr val="0F172A"/>
                </a:solidFill>
                <a:latin typeface="Plus Jakarta Sans SemiBold"/>
                <a:ea typeface="Plus Jakarta Sans SemiBold"/>
                <a:cs typeface="Plus Jakarta Sans SemiBold"/>
                <a:sym typeface="Plus Jakarta Sans SemiBold"/>
              </a:rPr>
              <a:t> Customers</a:t>
            </a:r>
            <a:endParaRPr/>
          </a:p>
        </p:txBody>
      </p:sp>
      <p:sp>
        <p:nvSpPr>
          <p:cNvPr id="318" name="Google Shape;318;p27"/>
          <p:cNvSpPr txBox="1"/>
          <p:nvPr/>
        </p:nvSpPr>
        <p:spPr>
          <a:xfrm>
            <a:off x="3700462" y="4366319"/>
            <a:ext cx="1957387" cy="82287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475569"/>
                </a:solidFill>
                <a:latin typeface="Inter"/>
                <a:ea typeface="Inter"/>
                <a:cs typeface="Inter"/>
                <a:sym typeface="Inter"/>
              </a:rPr>
              <a:t>Regular purchasing behavior with moderate overall activity.</a:t>
            </a:r>
            <a:endParaRPr/>
          </a:p>
        </p:txBody>
      </p:sp>
      <p:pic>
        <p:nvPicPr>
          <p:cNvPr descr="image.png" id="319" name="Google Shape;319;p27"/>
          <p:cNvPicPr preferRelativeResize="0"/>
          <p:nvPr/>
        </p:nvPicPr>
        <p:blipFill rotWithShape="1">
          <a:blip r:embed="rId9">
            <a:alphaModFix/>
          </a:blip>
          <a:srcRect b="0" l="0" r="0" t="0"/>
          <a:stretch/>
        </p:blipFill>
        <p:spPr>
          <a:xfrm>
            <a:off x="7084218" y="2318444"/>
            <a:ext cx="857250" cy="857250"/>
          </a:xfrm>
          <a:prstGeom prst="rect">
            <a:avLst/>
          </a:prstGeom>
          <a:noFill/>
          <a:ln>
            <a:noFill/>
          </a:ln>
        </p:spPr>
      </p:pic>
      <p:sp>
        <p:nvSpPr>
          <p:cNvPr id="320" name="Google Shape;320;p27"/>
          <p:cNvSpPr txBox="1"/>
          <p:nvPr/>
        </p:nvSpPr>
        <p:spPr>
          <a:xfrm>
            <a:off x="6747748" y="3413819"/>
            <a:ext cx="1530191" cy="6667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0F172A"/>
                </a:solidFill>
                <a:latin typeface="Plus Jakarta Sans SemiBold"/>
                <a:ea typeface="Plus Jakarta Sans SemiBold"/>
                <a:cs typeface="Plus Jakarta Sans SemiBold"/>
                <a:sym typeface="Plus Jakarta Sans SemiBold"/>
              </a:rPr>
              <a:t>Occasional</a:t>
            </a:r>
            <a:br>
              <a:rPr b="0" i="0" lang="en-US" sz="1800" u="none" cap="none" strike="noStrike">
                <a:solidFill>
                  <a:schemeClr val="dk1"/>
                </a:solidFill>
                <a:latin typeface="Calibri"/>
                <a:ea typeface="Calibri"/>
                <a:cs typeface="Calibri"/>
                <a:sym typeface="Calibri"/>
              </a:rPr>
            </a:br>
            <a:r>
              <a:rPr b="0" i="0" lang="en-US" sz="2100" u="none" cap="none" strike="noStrike">
                <a:solidFill>
                  <a:srgbClr val="0F172A"/>
                </a:solidFill>
                <a:latin typeface="Plus Jakarta Sans SemiBold"/>
                <a:ea typeface="Plus Jakarta Sans SemiBold"/>
                <a:cs typeface="Plus Jakarta Sans SemiBold"/>
                <a:sym typeface="Plus Jakarta Sans SemiBold"/>
              </a:rPr>
              <a:t> Customers</a:t>
            </a:r>
            <a:endParaRPr/>
          </a:p>
        </p:txBody>
      </p:sp>
      <p:sp>
        <p:nvSpPr>
          <p:cNvPr id="321" name="Google Shape;321;p27"/>
          <p:cNvSpPr txBox="1"/>
          <p:nvPr/>
        </p:nvSpPr>
        <p:spPr>
          <a:xfrm>
            <a:off x="6534150" y="4366319"/>
            <a:ext cx="1957387" cy="82287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475569"/>
                </a:solidFill>
                <a:latin typeface="Inter"/>
                <a:ea typeface="Inter"/>
                <a:cs typeface="Inter"/>
                <a:sym typeface="Inter"/>
              </a:rPr>
              <a:t>Irregular patterns, buying sporadically throughout the year.</a:t>
            </a:r>
            <a:endParaRPr/>
          </a:p>
        </p:txBody>
      </p:sp>
      <p:pic>
        <p:nvPicPr>
          <p:cNvPr descr="image.png" id="322" name="Google Shape;322;p27"/>
          <p:cNvPicPr preferRelativeResize="0"/>
          <p:nvPr/>
        </p:nvPicPr>
        <p:blipFill rotWithShape="1">
          <a:blip r:embed="rId10">
            <a:alphaModFix/>
          </a:blip>
          <a:srcRect b="0" l="0" r="0" t="0"/>
          <a:stretch/>
        </p:blipFill>
        <p:spPr>
          <a:xfrm>
            <a:off x="9917906" y="2318444"/>
            <a:ext cx="857250" cy="857250"/>
          </a:xfrm>
          <a:prstGeom prst="rect">
            <a:avLst/>
          </a:prstGeom>
          <a:noFill/>
          <a:ln>
            <a:noFill/>
          </a:ln>
        </p:spPr>
      </p:pic>
      <p:sp>
        <p:nvSpPr>
          <p:cNvPr id="323" name="Google Shape;323;p27"/>
          <p:cNvSpPr txBox="1"/>
          <p:nvPr/>
        </p:nvSpPr>
        <p:spPr>
          <a:xfrm>
            <a:off x="9606438" y="3413819"/>
            <a:ext cx="1480185" cy="6667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0F172A"/>
                </a:solidFill>
                <a:latin typeface="Plus Jakarta Sans SemiBold"/>
                <a:ea typeface="Plus Jakarta Sans SemiBold"/>
                <a:cs typeface="Plus Jakarta Sans SemiBold"/>
                <a:sym typeface="Plus Jakarta Sans SemiBold"/>
              </a:rPr>
              <a:t>At-Risk</a:t>
            </a:r>
            <a:br>
              <a:rPr b="0" i="0" lang="en-US" sz="1800" u="none" cap="none" strike="noStrike">
                <a:solidFill>
                  <a:schemeClr val="dk1"/>
                </a:solidFill>
                <a:latin typeface="Calibri"/>
                <a:ea typeface="Calibri"/>
                <a:cs typeface="Calibri"/>
                <a:sym typeface="Calibri"/>
              </a:rPr>
            </a:br>
            <a:r>
              <a:rPr b="0" i="0" lang="en-US" sz="2100" u="none" cap="none" strike="noStrike">
                <a:solidFill>
                  <a:srgbClr val="0F172A"/>
                </a:solidFill>
                <a:latin typeface="Plus Jakarta Sans SemiBold"/>
                <a:ea typeface="Plus Jakarta Sans SemiBold"/>
                <a:cs typeface="Plus Jakarta Sans SemiBold"/>
                <a:sym typeface="Plus Jakarta Sans SemiBold"/>
              </a:rPr>
              <a:t> Customers</a:t>
            </a:r>
            <a:endParaRPr/>
          </a:p>
        </p:txBody>
      </p:sp>
      <p:sp>
        <p:nvSpPr>
          <p:cNvPr id="324" name="Google Shape;324;p27"/>
          <p:cNvSpPr txBox="1"/>
          <p:nvPr/>
        </p:nvSpPr>
        <p:spPr>
          <a:xfrm>
            <a:off x="9367837" y="4366319"/>
            <a:ext cx="1957387" cy="109716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475569"/>
                </a:solidFill>
                <a:latin typeface="Inter"/>
                <a:ea typeface="Inter"/>
                <a:cs typeface="Inter"/>
                <a:sym typeface="Inter"/>
              </a:rPr>
              <a:t>Very low engagement metrics and high probability of imminent churn.</a:t>
            </a:r>
            <a:endParaRPr/>
          </a:p>
        </p:txBody>
      </p:sp>
      <p:pic>
        <p:nvPicPr>
          <p:cNvPr descr="image.png" id="325" name="Google Shape;325;p27"/>
          <p:cNvPicPr preferRelativeResize="0"/>
          <p:nvPr/>
        </p:nvPicPr>
        <p:blipFill rotWithShape="1">
          <a:blip r:embed="rId11">
            <a:alphaModFix/>
          </a:blip>
          <a:srcRect b="0" l="0" r="0" t="0"/>
          <a:stretch/>
        </p:blipFill>
        <p:spPr>
          <a:xfrm>
            <a:off x="1588293" y="2518469"/>
            <a:ext cx="514350" cy="457200"/>
          </a:xfrm>
          <a:prstGeom prst="rect">
            <a:avLst/>
          </a:prstGeom>
          <a:noFill/>
          <a:ln>
            <a:noFill/>
          </a:ln>
        </p:spPr>
      </p:pic>
      <p:pic>
        <p:nvPicPr>
          <p:cNvPr descr="image.png" id="326" name="Google Shape;326;p27"/>
          <p:cNvPicPr preferRelativeResize="0"/>
          <p:nvPr/>
        </p:nvPicPr>
        <p:blipFill rotWithShape="1">
          <a:blip r:embed="rId12">
            <a:alphaModFix/>
          </a:blip>
          <a:srcRect b="0" l="0" r="0" t="0"/>
          <a:stretch/>
        </p:blipFill>
        <p:spPr>
          <a:xfrm>
            <a:off x="4393406" y="2518469"/>
            <a:ext cx="571500" cy="457200"/>
          </a:xfrm>
          <a:prstGeom prst="rect">
            <a:avLst/>
          </a:prstGeom>
          <a:noFill/>
          <a:ln>
            <a:noFill/>
          </a:ln>
        </p:spPr>
      </p:pic>
      <p:pic>
        <p:nvPicPr>
          <p:cNvPr descr="image.png" id="327" name="Google Shape;327;p27"/>
          <p:cNvPicPr preferRelativeResize="0"/>
          <p:nvPr/>
        </p:nvPicPr>
        <p:blipFill rotWithShape="1">
          <a:blip r:embed="rId13">
            <a:alphaModFix/>
          </a:blip>
          <a:srcRect b="0" l="0" r="0" t="0"/>
          <a:stretch/>
        </p:blipFill>
        <p:spPr>
          <a:xfrm>
            <a:off x="7255668" y="2518469"/>
            <a:ext cx="514350" cy="457200"/>
          </a:xfrm>
          <a:prstGeom prst="rect">
            <a:avLst/>
          </a:prstGeom>
          <a:noFill/>
          <a:ln>
            <a:noFill/>
          </a:ln>
        </p:spPr>
      </p:pic>
      <p:pic>
        <p:nvPicPr>
          <p:cNvPr descr="image.png" id="328" name="Google Shape;328;p27"/>
          <p:cNvPicPr preferRelativeResize="0"/>
          <p:nvPr/>
        </p:nvPicPr>
        <p:blipFill rotWithShape="1">
          <a:blip r:embed="rId14">
            <a:alphaModFix/>
          </a:blip>
          <a:srcRect b="0" l="0" r="0" t="0"/>
          <a:stretch/>
        </p:blipFill>
        <p:spPr>
          <a:xfrm>
            <a:off x="10117931" y="2518469"/>
            <a:ext cx="457200" cy="457200"/>
          </a:xfrm>
          <a:prstGeom prst="rect">
            <a:avLst/>
          </a:prstGeom>
          <a:noFill/>
          <a:ln>
            <a:noFill/>
          </a:ln>
        </p:spPr>
      </p:pic>
      <p:sp>
        <p:nvSpPr>
          <p:cNvPr id="329" name="Google Shape;329;p27"/>
          <p:cNvSpPr txBox="1"/>
          <p:nvPr/>
        </p:nvSpPr>
        <p:spPr>
          <a:xfrm>
            <a:off x="571500" y="571500"/>
            <a:ext cx="11601450"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0284C7"/>
                </a:solidFill>
                <a:latin typeface="Plus Jakarta Sans"/>
                <a:ea typeface="Plus Jakarta Sans"/>
                <a:cs typeface="Plus Jakarta Sans"/>
                <a:sym typeface="Plus Jakarta Sans"/>
              </a:rPr>
              <a:t>The Four Identified Clusters</a:t>
            </a:r>
            <a:endParaRPr/>
          </a:p>
        </p:txBody>
      </p:sp>
      <p:sp>
        <p:nvSpPr>
          <p:cNvPr id="330" name="Google Shape;330;p27"/>
          <p:cNvSpPr/>
          <p:nvPr/>
        </p:nvSpPr>
        <p:spPr>
          <a:xfrm>
            <a:off x="571500" y="1247775"/>
            <a:ext cx="110490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34" name="Shape 334"/>
        <p:cNvGrpSpPr/>
        <p:nvPr/>
      </p:nvGrpSpPr>
      <p:grpSpPr>
        <a:xfrm>
          <a:off x="0" y="0"/>
          <a:ext cx="0" cy="0"/>
          <a:chOff x="0" y="0"/>
          <a:chExt cx="0" cy="0"/>
        </a:xfrm>
      </p:grpSpPr>
      <p:pic>
        <p:nvPicPr>
          <p:cNvPr descr="image.png" id="335" name="Google Shape;335;p2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36" name="Google Shape;336;p28"/>
          <p:cNvSpPr txBox="1"/>
          <p:nvPr/>
        </p:nvSpPr>
        <p:spPr>
          <a:xfrm>
            <a:off x="1809750" y="2424112"/>
            <a:ext cx="904875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0F172A"/>
                </a:solidFill>
                <a:latin typeface="Inter SemiBold"/>
                <a:ea typeface="Inter SemiBold"/>
                <a:cs typeface="Inter SemiBold"/>
                <a:sym typeface="Inter SemiBold"/>
              </a:rPr>
              <a:t>Personalized Marketing:</a:t>
            </a:r>
            <a:r>
              <a:rPr b="0" i="0" lang="en-US" sz="1500" u="none" cap="none" strike="noStrike">
                <a:solidFill>
                  <a:srgbClr val="475569"/>
                </a:solidFill>
                <a:latin typeface="Inter"/>
                <a:ea typeface="Inter"/>
                <a:cs typeface="Inter"/>
                <a:sym typeface="Inter"/>
              </a:rPr>
              <a:t> Tailor campaigns specifically to the behavior profile of each cluster.</a:t>
            </a:r>
            <a:endParaRPr/>
          </a:p>
        </p:txBody>
      </p:sp>
      <p:sp>
        <p:nvSpPr>
          <p:cNvPr id="337" name="Google Shape;337;p28"/>
          <p:cNvSpPr txBox="1"/>
          <p:nvPr/>
        </p:nvSpPr>
        <p:spPr>
          <a:xfrm>
            <a:off x="1809750" y="2967037"/>
            <a:ext cx="904875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0F172A"/>
                </a:solidFill>
                <a:latin typeface="Inter SemiBold"/>
                <a:ea typeface="Inter SemiBold"/>
                <a:cs typeface="Inter SemiBold"/>
                <a:sym typeface="Inter SemiBold"/>
              </a:rPr>
              <a:t>Identify High-Value Targets:</a:t>
            </a:r>
            <a:r>
              <a:rPr b="0" i="0" lang="en-US" sz="1500" u="none" cap="none" strike="noStrike">
                <a:solidFill>
                  <a:srgbClr val="475569"/>
                </a:solidFill>
                <a:latin typeface="Inter"/>
                <a:ea typeface="Inter"/>
                <a:cs typeface="Inter"/>
                <a:sym typeface="Inter"/>
              </a:rPr>
              <a:t> Focus retention programs and premium offers on the VIP segment to maximize ROI.</a:t>
            </a:r>
            <a:endParaRPr/>
          </a:p>
        </p:txBody>
      </p:sp>
      <p:sp>
        <p:nvSpPr>
          <p:cNvPr id="338" name="Google Shape;338;p28"/>
          <p:cNvSpPr txBox="1"/>
          <p:nvPr/>
        </p:nvSpPr>
        <p:spPr>
          <a:xfrm>
            <a:off x="1809750" y="3814762"/>
            <a:ext cx="904875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0F172A"/>
                </a:solidFill>
                <a:latin typeface="Inter SemiBold"/>
                <a:ea typeface="Inter SemiBold"/>
                <a:cs typeface="Inter SemiBold"/>
                <a:sym typeface="Inter SemiBold"/>
              </a:rPr>
              <a:t>Early Intervention:</a:t>
            </a:r>
            <a:r>
              <a:rPr b="0" i="0" lang="en-US" sz="1500" u="none" cap="none" strike="noStrike">
                <a:solidFill>
                  <a:srgbClr val="475569"/>
                </a:solidFill>
                <a:latin typeface="Inter"/>
                <a:ea typeface="Inter"/>
                <a:cs typeface="Inter"/>
                <a:sym typeface="Inter"/>
              </a:rPr>
              <a:t> Detect At-Risk customers early and deploy targeted discounts to re-engage them.</a:t>
            </a:r>
            <a:endParaRPr/>
          </a:p>
        </p:txBody>
      </p:sp>
      <p:sp>
        <p:nvSpPr>
          <p:cNvPr id="339" name="Google Shape;339;p28"/>
          <p:cNvSpPr txBox="1"/>
          <p:nvPr/>
        </p:nvSpPr>
        <p:spPr>
          <a:xfrm>
            <a:off x="1809750" y="4662487"/>
            <a:ext cx="904875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0F172A"/>
                </a:solidFill>
                <a:latin typeface="Inter SemiBold"/>
                <a:ea typeface="Inter SemiBold"/>
                <a:cs typeface="Inter SemiBold"/>
                <a:sym typeface="Inter SemiBold"/>
              </a:rPr>
              <a:t>Resource Optimization:</a:t>
            </a:r>
            <a:r>
              <a:rPr b="0" i="0" lang="en-US" sz="1500" u="none" cap="none" strike="noStrike">
                <a:solidFill>
                  <a:srgbClr val="475569"/>
                </a:solidFill>
                <a:latin typeface="Inter"/>
                <a:ea typeface="Inter"/>
                <a:cs typeface="Inter"/>
                <a:sym typeface="Inter"/>
              </a:rPr>
              <a:t> Allocate support and sales resources efficiently based on customer lifetime potential.</a:t>
            </a:r>
            <a:endParaRPr/>
          </a:p>
        </p:txBody>
      </p:sp>
      <p:pic>
        <p:nvPicPr>
          <p:cNvPr descr="image.png" id="340" name="Google Shape;340;p28"/>
          <p:cNvPicPr preferRelativeResize="0"/>
          <p:nvPr/>
        </p:nvPicPr>
        <p:blipFill rotWithShape="1">
          <a:blip r:embed="rId4">
            <a:alphaModFix/>
          </a:blip>
          <a:srcRect b="0" l="0" r="0" t="0"/>
          <a:stretch/>
        </p:blipFill>
        <p:spPr>
          <a:xfrm>
            <a:off x="1333500" y="2452687"/>
            <a:ext cx="228600" cy="247650"/>
          </a:xfrm>
          <a:prstGeom prst="rect">
            <a:avLst/>
          </a:prstGeom>
          <a:noFill/>
          <a:ln>
            <a:noFill/>
          </a:ln>
        </p:spPr>
      </p:pic>
      <p:pic>
        <p:nvPicPr>
          <p:cNvPr descr="image.png" id="341" name="Google Shape;341;p28"/>
          <p:cNvPicPr preferRelativeResize="0"/>
          <p:nvPr/>
        </p:nvPicPr>
        <p:blipFill rotWithShape="1">
          <a:blip r:embed="rId5">
            <a:alphaModFix/>
          </a:blip>
          <a:srcRect b="0" l="0" r="0" t="0"/>
          <a:stretch/>
        </p:blipFill>
        <p:spPr>
          <a:xfrm>
            <a:off x="1333500" y="2995612"/>
            <a:ext cx="228600" cy="247650"/>
          </a:xfrm>
          <a:prstGeom prst="rect">
            <a:avLst/>
          </a:prstGeom>
          <a:noFill/>
          <a:ln>
            <a:noFill/>
          </a:ln>
        </p:spPr>
      </p:pic>
      <p:pic>
        <p:nvPicPr>
          <p:cNvPr descr="image.png" id="342" name="Google Shape;342;p28"/>
          <p:cNvPicPr preferRelativeResize="0"/>
          <p:nvPr/>
        </p:nvPicPr>
        <p:blipFill rotWithShape="1">
          <a:blip r:embed="rId6">
            <a:alphaModFix/>
          </a:blip>
          <a:srcRect b="0" l="0" r="0" t="0"/>
          <a:stretch/>
        </p:blipFill>
        <p:spPr>
          <a:xfrm>
            <a:off x="1333500" y="3843337"/>
            <a:ext cx="228600" cy="247650"/>
          </a:xfrm>
          <a:prstGeom prst="rect">
            <a:avLst/>
          </a:prstGeom>
          <a:noFill/>
          <a:ln>
            <a:noFill/>
          </a:ln>
        </p:spPr>
      </p:pic>
      <p:pic>
        <p:nvPicPr>
          <p:cNvPr descr="image.png" id="343" name="Google Shape;343;p28"/>
          <p:cNvPicPr preferRelativeResize="0"/>
          <p:nvPr/>
        </p:nvPicPr>
        <p:blipFill rotWithShape="1">
          <a:blip r:embed="rId7">
            <a:alphaModFix/>
          </a:blip>
          <a:srcRect b="0" l="0" r="0" t="0"/>
          <a:stretch/>
        </p:blipFill>
        <p:spPr>
          <a:xfrm>
            <a:off x="1333500" y="4691062"/>
            <a:ext cx="285750" cy="247650"/>
          </a:xfrm>
          <a:prstGeom prst="rect">
            <a:avLst/>
          </a:prstGeom>
          <a:noFill/>
          <a:ln>
            <a:noFill/>
          </a:ln>
        </p:spPr>
      </p:pic>
      <p:sp>
        <p:nvSpPr>
          <p:cNvPr id="344" name="Google Shape;344;p28"/>
          <p:cNvSpPr txBox="1"/>
          <p:nvPr/>
        </p:nvSpPr>
        <p:spPr>
          <a:xfrm>
            <a:off x="571500" y="571500"/>
            <a:ext cx="11601450"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0284C7"/>
                </a:solidFill>
                <a:latin typeface="Plus Jakarta Sans"/>
                <a:ea typeface="Plus Jakarta Sans"/>
                <a:cs typeface="Plus Jakarta Sans"/>
                <a:sym typeface="Plus Jakarta Sans"/>
              </a:rPr>
              <a:t>Business Value of Segmentation</a:t>
            </a:r>
            <a:endParaRPr/>
          </a:p>
        </p:txBody>
      </p:sp>
      <p:sp>
        <p:nvSpPr>
          <p:cNvPr id="345" name="Google Shape;345;p28"/>
          <p:cNvSpPr/>
          <p:nvPr/>
        </p:nvSpPr>
        <p:spPr>
          <a:xfrm>
            <a:off x="571500" y="1247775"/>
            <a:ext cx="110490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49" name="Shape 349"/>
        <p:cNvGrpSpPr/>
        <p:nvPr/>
      </p:nvGrpSpPr>
      <p:grpSpPr>
        <a:xfrm>
          <a:off x="0" y="0"/>
          <a:ext cx="0" cy="0"/>
          <a:chOff x="0" y="0"/>
          <a:chExt cx="0" cy="0"/>
        </a:xfrm>
      </p:grpSpPr>
      <p:pic>
        <p:nvPicPr>
          <p:cNvPr descr="image.png" id="350" name="Google Shape;350;p2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51" name="Google Shape;351;p29"/>
          <p:cNvPicPr preferRelativeResize="0"/>
          <p:nvPr/>
        </p:nvPicPr>
        <p:blipFill rotWithShape="1">
          <a:blip r:embed="rId4">
            <a:alphaModFix/>
          </a:blip>
          <a:srcRect b="0" l="0" r="0" t="0"/>
          <a:stretch/>
        </p:blipFill>
        <p:spPr>
          <a:xfrm>
            <a:off x="6381750" y="2062162"/>
            <a:ext cx="5238750" cy="3810000"/>
          </a:xfrm>
          <a:prstGeom prst="rect">
            <a:avLst/>
          </a:prstGeom>
          <a:noFill/>
          <a:ln>
            <a:noFill/>
          </a:ln>
        </p:spPr>
      </p:pic>
      <p:sp>
        <p:nvSpPr>
          <p:cNvPr id="352" name="Google Shape;352;p29"/>
          <p:cNvSpPr txBox="1"/>
          <p:nvPr/>
        </p:nvSpPr>
        <p:spPr>
          <a:xfrm>
            <a:off x="571500" y="2062162"/>
            <a:ext cx="5500687" cy="3333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0F172A"/>
                </a:solidFill>
                <a:latin typeface="Plus Jakarta Sans SemiBold"/>
                <a:ea typeface="Plus Jakarta Sans SemiBold"/>
                <a:cs typeface="Plus Jakarta Sans SemiBold"/>
                <a:sym typeface="Plus Jakarta Sans SemiBold"/>
              </a:rPr>
              <a:t>Binary Classification Task</a:t>
            </a:r>
            <a:endParaRPr/>
          </a:p>
        </p:txBody>
      </p:sp>
      <p:sp>
        <p:nvSpPr>
          <p:cNvPr id="353" name="Google Shape;353;p29"/>
          <p:cNvSpPr txBox="1"/>
          <p:nvPr/>
        </p:nvSpPr>
        <p:spPr>
          <a:xfrm>
            <a:off x="571500" y="2538412"/>
            <a:ext cx="5238750" cy="121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75569"/>
                </a:solidFill>
                <a:latin typeface="Inter"/>
                <a:ea typeface="Inter"/>
                <a:cs typeface="Inter"/>
                <a:sym typeface="Inter"/>
              </a:rPr>
              <a:t>Churn prediction is formulated as a supervised problem. The objective is to proactively predict whether a customer will stop using the service (Churn = 1) or remain active (Churn = 0).</a:t>
            </a:r>
            <a:endParaRPr/>
          </a:p>
        </p:txBody>
      </p:sp>
      <p:sp>
        <p:nvSpPr>
          <p:cNvPr id="354" name="Google Shape;354;p29"/>
          <p:cNvSpPr txBox="1"/>
          <p:nvPr/>
        </p:nvSpPr>
        <p:spPr>
          <a:xfrm>
            <a:off x="571500" y="3910012"/>
            <a:ext cx="523875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75569"/>
                </a:solidFill>
                <a:latin typeface="Inter"/>
                <a:ea typeface="Inter"/>
                <a:cs typeface="Inter"/>
                <a:sym typeface="Inter"/>
              </a:rPr>
              <a:t>This early-warning mechanism is essential for modern customer retention, transitioning business strategies from reactive to proactive.</a:t>
            </a:r>
            <a:endParaRPr/>
          </a:p>
        </p:txBody>
      </p:sp>
      <p:pic>
        <p:nvPicPr>
          <p:cNvPr descr="image.png" id="355" name="Google Shape;355;p29"/>
          <p:cNvPicPr preferRelativeResize="0"/>
          <p:nvPr/>
        </p:nvPicPr>
        <p:blipFill rotWithShape="1">
          <a:blip r:embed="rId5">
            <a:alphaModFix/>
          </a:blip>
          <a:srcRect b="0" l="0" r="0" t="0"/>
          <a:stretch/>
        </p:blipFill>
        <p:spPr>
          <a:xfrm>
            <a:off x="6381750" y="2062162"/>
            <a:ext cx="5238750" cy="3810000"/>
          </a:xfrm>
          <a:prstGeom prst="rect">
            <a:avLst/>
          </a:prstGeom>
          <a:noFill/>
          <a:ln>
            <a:noFill/>
          </a:ln>
        </p:spPr>
      </p:pic>
      <p:sp>
        <p:nvSpPr>
          <p:cNvPr id="356" name="Google Shape;356;p29"/>
          <p:cNvSpPr txBox="1"/>
          <p:nvPr/>
        </p:nvSpPr>
        <p:spPr>
          <a:xfrm>
            <a:off x="571500" y="571500"/>
            <a:ext cx="11601450"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0284C7"/>
                </a:solidFill>
                <a:latin typeface="Plus Jakarta Sans"/>
                <a:ea typeface="Plus Jakarta Sans"/>
                <a:cs typeface="Plus Jakarta Sans"/>
                <a:sym typeface="Plus Jakarta Sans"/>
              </a:rPr>
              <a:t>Churn Prediction System</a:t>
            </a:r>
            <a:endParaRPr/>
          </a:p>
        </p:txBody>
      </p:sp>
      <p:sp>
        <p:nvSpPr>
          <p:cNvPr id="357" name="Google Shape;357;p29"/>
          <p:cNvSpPr/>
          <p:nvPr/>
        </p:nvSpPr>
        <p:spPr>
          <a:xfrm>
            <a:off x="571500" y="1247775"/>
            <a:ext cx="110490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61" name="Shape 361"/>
        <p:cNvGrpSpPr/>
        <p:nvPr/>
      </p:nvGrpSpPr>
      <p:grpSpPr>
        <a:xfrm>
          <a:off x="0" y="0"/>
          <a:ext cx="0" cy="0"/>
          <a:chOff x="0" y="0"/>
          <a:chExt cx="0" cy="0"/>
        </a:xfrm>
      </p:grpSpPr>
      <p:pic>
        <p:nvPicPr>
          <p:cNvPr descr="image.png" id="362" name="Google Shape;362;p3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63" name="Google Shape;363;p30"/>
          <p:cNvSpPr txBox="1"/>
          <p:nvPr/>
        </p:nvSpPr>
        <p:spPr>
          <a:xfrm>
            <a:off x="2381250" y="2238375"/>
            <a:ext cx="7429500" cy="2800201"/>
          </a:xfrm>
          <a:prstGeom prst="rect">
            <a:avLst/>
          </a:prstGeom>
          <a:noFill/>
          <a:ln>
            <a:noFill/>
          </a:ln>
        </p:spPr>
        <p:txBody>
          <a:bodyPr anchorCtr="0" anchor="t" bIns="0" lIns="0" spcFirstLastPara="1" rIns="0" wrap="square" tIns="0">
            <a:spAutoFit/>
          </a:bodyPr>
          <a:lstStyle/>
          <a:p>
            <a:pPr indent="0" lvl="0" marL="0" marR="0" rtl="0" algn="ctr">
              <a:lnSpc>
                <a:spcPct val="139968"/>
              </a:lnSpc>
              <a:spcBef>
                <a:spcPts val="0"/>
              </a:spcBef>
              <a:spcAft>
                <a:spcPts val="0"/>
              </a:spcAft>
              <a:buNone/>
            </a:pPr>
            <a:r>
              <a:rPr b="0" i="0" lang="en-US" sz="3150" u="none" cap="none" strike="noStrike">
                <a:solidFill>
                  <a:srgbClr val="0F172A"/>
                </a:solidFill>
                <a:latin typeface="Plus Jakarta Sans SemiBold"/>
                <a:ea typeface="Plus Jakarta Sans SemiBold"/>
                <a:cs typeface="Plus Jakarta Sans SemiBold"/>
                <a:sym typeface="Plus Jakarta Sans SemiBold"/>
              </a:rPr>
              <a:t>To prevent bias toward the non-churn majority, we applied SMOTE (Synthetic Minority Oversampling Technique) to intelligently generate synthetic samples of the minority class.</a:t>
            </a:r>
            <a:endParaRPr/>
          </a:p>
        </p:txBody>
      </p:sp>
      <p:sp>
        <p:nvSpPr>
          <p:cNvPr id="364" name="Google Shape;364;p30"/>
          <p:cNvSpPr txBox="1"/>
          <p:nvPr/>
        </p:nvSpPr>
        <p:spPr>
          <a:xfrm>
            <a:off x="3919537" y="5419576"/>
            <a:ext cx="4352925" cy="276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800" u="none" cap="none" strike="noStrike">
                <a:solidFill>
                  <a:srgbClr val="0284C7"/>
                </a:solidFill>
                <a:latin typeface="Inter SemiBold"/>
                <a:ea typeface="Inter SemiBold"/>
                <a:cs typeface="Inter SemiBold"/>
                <a:sym typeface="Inter SemiBold"/>
              </a:rPr>
              <a:t>— Ensuring Balanced Generalization</a:t>
            </a:r>
            <a:endParaRPr/>
          </a:p>
        </p:txBody>
      </p:sp>
      <p:sp>
        <p:nvSpPr>
          <p:cNvPr id="365" name="Google Shape;365;p30"/>
          <p:cNvSpPr txBox="1"/>
          <p:nvPr/>
        </p:nvSpPr>
        <p:spPr>
          <a:xfrm>
            <a:off x="1619250" y="2619375"/>
            <a:ext cx="634603" cy="1314450"/>
          </a:xfrm>
          <a:prstGeom prst="rect">
            <a:avLst/>
          </a:prstGeom>
          <a:noFill/>
          <a:ln>
            <a:noFill/>
          </a:ln>
        </p:spPr>
        <p:txBody>
          <a:bodyPr anchorCtr="0" anchor="t" bIns="0" lIns="0" spcFirstLastPara="1" rIns="0" wrap="square" tIns="0">
            <a:spAutoFit/>
          </a:bodyPr>
          <a:lstStyle/>
          <a:p>
            <a:pPr indent="0" lvl="0" marL="0" marR="0" rtl="0" algn="l">
              <a:lnSpc>
                <a:spcPct val="0"/>
              </a:lnSpc>
              <a:spcBef>
                <a:spcPts val="0"/>
              </a:spcBef>
              <a:spcAft>
                <a:spcPts val="0"/>
              </a:spcAft>
              <a:buNone/>
            </a:pPr>
            <a:r>
              <a:rPr b="0" i="0" lang="en-US" sz="9000" u="none" cap="none" strike="noStrike">
                <a:solidFill>
                  <a:srgbClr val="BAE6FD"/>
                </a:solidFill>
                <a:latin typeface="Arial"/>
                <a:ea typeface="Arial"/>
                <a:cs typeface="Arial"/>
                <a:sym typeface="Arial"/>
              </a:rPr>
              <a:t>"</a:t>
            </a:r>
            <a:endParaRPr/>
          </a:p>
        </p:txBody>
      </p:sp>
      <p:sp>
        <p:nvSpPr>
          <p:cNvPr id="366" name="Google Shape;366;p30"/>
          <p:cNvSpPr txBox="1"/>
          <p:nvPr/>
        </p:nvSpPr>
        <p:spPr>
          <a:xfrm>
            <a:off x="571500" y="571500"/>
            <a:ext cx="11601450"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0284C7"/>
                </a:solidFill>
                <a:latin typeface="Plus Jakarta Sans"/>
                <a:ea typeface="Plus Jakarta Sans"/>
                <a:cs typeface="Plus Jakarta Sans"/>
                <a:sym typeface="Plus Jakarta Sans"/>
              </a:rPr>
              <a:t>Solving Class Imbalance</a:t>
            </a:r>
            <a:endParaRPr/>
          </a:p>
        </p:txBody>
      </p:sp>
      <p:sp>
        <p:nvSpPr>
          <p:cNvPr id="367" name="Google Shape;367;p30"/>
          <p:cNvSpPr/>
          <p:nvPr/>
        </p:nvSpPr>
        <p:spPr>
          <a:xfrm>
            <a:off x="571500" y="1247775"/>
            <a:ext cx="110490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71" name="Shape 371"/>
        <p:cNvGrpSpPr/>
        <p:nvPr/>
      </p:nvGrpSpPr>
      <p:grpSpPr>
        <a:xfrm>
          <a:off x="0" y="0"/>
          <a:ext cx="0" cy="0"/>
          <a:chOff x="0" y="0"/>
          <a:chExt cx="0" cy="0"/>
        </a:xfrm>
      </p:grpSpPr>
      <p:pic>
        <p:nvPicPr>
          <p:cNvPr descr="image.png" id="372" name="Google Shape;372;p3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73" name="Google Shape;373;p31"/>
          <p:cNvPicPr preferRelativeResize="0"/>
          <p:nvPr/>
        </p:nvPicPr>
        <p:blipFill rotWithShape="1">
          <a:blip r:embed="rId4">
            <a:alphaModFix/>
          </a:blip>
          <a:srcRect b="0" l="0" r="0" t="0"/>
          <a:stretch/>
        </p:blipFill>
        <p:spPr>
          <a:xfrm>
            <a:off x="571500" y="3340298"/>
            <a:ext cx="2547937" cy="2305050"/>
          </a:xfrm>
          <a:prstGeom prst="rect">
            <a:avLst/>
          </a:prstGeom>
          <a:noFill/>
          <a:ln>
            <a:noFill/>
          </a:ln>
        </p:spPr>
      </p:pic>
      <p:pic>
        <p:nvPicPr>
          <p:cNvPr descr="image.png" id="374" name="Google Shape;374;p31"/>
          <p:cNvPicPr preferRelativeResize="0"/>
          <p:nvPr/>
        </p:nvPicPr>
        <p:blipFill rotWithShape="1">
          <a:blip r:embed="rId5">
            <a:alphaModFix/>
          </a:blip>
          <a:srcRect b="0" l="0" r="0" t="0"/>
          <a:stretch/>
        </p:blipFill>
        <p:spPr>
          <a:xfrm>
            <a:off x="3405187" y="3340298"/>
            <a:ext cx="2547937" cy="2305050"/>
          </a:xfrm>
          <a:prstGeom prst="rect">
            <a:avLst/>
          </a:prstGeom>
          <a:noFill/>
          <a:ln>
            <a:noFill/>
          </a:ln>
        </p:spPr>
      </p:pic>
      <p:pic>
        <p:nvPicPr>
          <p:cNvPr descr="image.png" id="375" name="Google Shape;375;p31"/>
          <p:cNvPicPr preferRelativeResize="0"/>
          <p:nvPr/>
        </p:nvPicPr>
        <p:blipFill rotWithShape="1">
          <a:blip r:embed="rId6">
            <a:alphaModFix/>
          </a:blip>
          <a:srcRect b="0" l="0" r="0" t="0"/>
          <a:stretch/>
        </p:blipFill>
        <p:spPr>
          <a:xfrm>
            <a:off x="6238875" y="3340298"/>
            <a:ext cx="2547937" cy="2305050"/>
          </a:xfrm>
          <a:prstGeom prst="rect">
            <a:avLst/>
          </a:prstGeom>
          <a:noFill/>
          <a:ln>
            <a:noFill/>
          </a:ln>
        </p:spPr>
      </p:pic>
      <p:pic>
        <p:nvPicPr>
          <p:cNvPr descr="image.png" id="376" name="Google Shape;376;p31"/>
          <p:cNvPicPr preferRelativeResize="0"/>
          <p:nvPr/>
        </p:nvPicPr>
        <p:blipFill rotWithShape="1">
          <a:blip r:embed="rId5">
            <a:alphaModFix/>
          </a:blip>
          <a:srcRect b="0" l="0" r="0" t="0"/>
          <a:stretch/>
        </p:blipFill>
        <p:spPr>
          <a:xfrm>
            <a:off x="9072562" y="3340298"/>
            <a:ext cx="2547937" cy="2305050"/>
          </a:xfrm>
          <a:prstGeom prst="rect">
            <a:avLst/>
          </a:prstGeom>
          <a:noFill/>
          <a:ln>
            <a:noFill/>
          </a:ln>
        </p:spPr>
      </p:pic>
      <p:sp>
        <p:nvSpPr>
          <p:cNvPr id="377" name="Google Shape;377;p31"/>
          <p:cNvSpPr txBox="1"/>
          <p:nvPr/>
        </p:nvSpPr>
        <p:spPr>
          <a:xfrm>
            <a:off x="1809750" y="2288976"/>
            <a:ext cx="8572500" cy="670321"/>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650" u="none" cap="none" strike="noStrike">
                <a:solidFill>
                  <a:srgbClr val="475569"/>
                </a:solidFill>
                <a:latin typeface="Inter"/>
                <a:ea typeface="Inter"/>
                <a:cs typeface="Inter"/>
                <a:sym typeface="Inter"/>
              </a:rPr>
              <a:t>We trained and tested four distinct classification architectures on the balanced dataset, evaluating across Accuracy, Precision, Recall, F1, and ROC-AUC.</a:t>
            </a:r>
            <a:endParaRPr/>
          </a:p>
        </p:txBody>
      </p:sp>
      <p:pic>
        <p:nvPicPr>
          <p:cNvPr descr="image.png" id="378" name="Google Shape;378;p31"/>
          <p:cNvPicPr preferRelativeResize="0"/>
          <p:nvPr/>
        </p:nvPicPr>
        <p:blipFill rotWithShape="1">
          <a:blip r:embed="rId7">
            <a:alphaModFix/>
          </a:blip>
          <a:srcRect b="0" l="0" r="0" t="0"/>
          <a:stretch/>
        </p:blipFill>
        <p:spPr>
          <a:xfrm>
            <a:off x="1512093" y="3635573"/>
            <a:ext cx="666750" cy="666750"/>
          </a:xfrm>
          <a:prstGeom prst="rect">
            <a:avLst/>
          </a:prstGeom>
          <a:noFill/>
          <a:ln>
            <a:noFill/>
          </a:ln>
        </p:spPr>
      </p:pic>
      <p:sp>
        <p:nvSpPr>
          <p:cNvPr id="379" name="Google Shape;379;p31"/>
          <p:cNvSpPr txBox="1"/>
          <p:nvPr/>
        </p:nvSpPr>
        <p:spPr>
          <a:xfrm>
            <a:off x="1140380" y="4540448"/>
            <a:ext cx="1410176" cy="6667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0F172A"/>
                </a:solidFill>
                <a:latin typeface="Plus Jakarta Sans SemiBold"/>
                <a:ea typeface="Plus Jakarta Sans SemiBold"/>
                <a:cs typeface="Plus Jakarta Sans SemiBold"/>
                <a:sym typeface="Plus Jakarta Sans SemiBold"/>
              </a:rPr>
              <a:t>K-Nearest</a:t>
            </a:r>
            <a:br>
              <a:rPr b="0" i="0" lang="en-US" sz="1800" u="none" cap="none" strike="noStrike">
                <a:solidFill>
                  <a:schemeClr val="dk1"/>
                </a:solidFill>
                <a:latin typeface="Calibri"/>
                <a:ea typeface="Calibri"/>
                <a:cs typeface="Calibri"/>
                <a:sym typeface="Calibri"/>
              </a:rPr>
            </a:br>
            <a:r>
              <a:rPr b="0" i="0" lang="en-US" sz="2100" u="none" cap="none" strike="noStrike">
                <a:solidFill>
                  <a:srgbClr val="0F172A"/>
                </a:solidFill>
                <a:latin typeface="Plus Jakarta Sans SemiBold"/>
                <a:ea typeface="Plus Jakarta Sans SemiBold"/>
                <a:cs typeface="Plus Jakarta Sans SemiBold"/>
                <a:sym typeface="Plus Jakarta Sans SemiBold"/>
              </a:rPr>
              <a:t> Neighbors</a:t>
            </a:r>
            <a:endParaRPr/>
          </a:p>
        </p:txBody>
      </p:sp>
      <p:pic>
        <p:nvPicPr>
          <p:cNvPr descr="image.png" id="380" name="Google Shape;380;p31"/>
          <p:cNvPicPr preferRelativeResize="0"/>
          <p:nvPr/>
        </p:nvPicPr>
        <p:blipFill rotWithShape="1">
          <a:blip r:embed="rId8">
            <a:alphaModFix/>
          </a:blip>
          <a:srcRect b="0" l="0" r="0" t="0"/>
          <a:stretch/>
        </p:blipFill>
        <p:spPr>
          <a:xfrm>
            <a:off x="4345781" y="3635573"/>
            <a:ext cx="666750" cy="666750"/>
          </a:xfrm>
          <a:prstGeom prst="rect">
            <a:avLst/>
          </a:prstGeom>
          <a:noFill/>
          <a:ln>
            <a:noFill/>
          </a:ln>
        </p:spPr>
      </p:pic>
      <p:sp>
        <p:nvSpPr>
          <p:cNvPr id="381" name="Google Shape;381;p31"/>
          <p:cNvSpPr txBox="1"/>
          <p:nvPr/>
        </p:nvSpPr>
        <p:spPr>
          <a:xfrm>
            <a:off x="4094083" y="4540448"/>
            <a:ext cx="1170146" cy="6667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0F172A"/>
                </a:solidFill>
                <a:latin typeface="Plus Jakarta Sans SemiBold"/>
                <a:ea typeface="Plus Jakarta Sans SemiBold"/>
                <a:cs typeface="Plus Jakarta Sans SemiBold"/>
                <a:sym typeface="Plus Jakarta Sans SemiBold"/>
              </a:rPr>
              <a:t>Decision</a:t>
            </a:r>
            <a:br>
              <a:rPr b="0" i="0" lang="en-US" sz="1800" u="none" cap="none" strike="noStrike">
                <a:solidFill>
                  <a:schemeClr val="dk1"/>
                </a:solidFill>
                <a:latin typeface="Calibri"/>
                <a:ea typeface="Calibri"/>
                <a:cs typeface="Calibri"/>
                <a:sym typeface="Calibri"/>
              </a:rPr>
            </a:br>
            <a:r>
              <a:rPr b="0" i="0" lang="en-US" sz="2100" u="none" cap="none" strike="noStrike">
                <a:solidFill>
                  <a:srgbClr val="0F172A"/>
                </a:solidFill>
                <a:latin typeface="Plus Jakarta Sans SemiBold"/>
                <a:ea typeface="Plus Jakarta Sans SemiBold"/>
                <a:cs typeface="Plus Jakarta Sans SemiBold"/>
                <a:sym typeface="Plus Jakarta Sans SemiBold"/>
              </a:rPr>
              <a:t> Tree</a:t>
            </a:r>
            <a:endParaRPr/>
          </a:p>
        </p:txBody>
      </p:sp>
      <p:pic>
        <p:nvPicPr>
          <p:cNvPr descr="image.png" id="382" name="Google Shape;382;p31"/>
          <p:cNvPicPr preferRelativeResize="0"/>
          <p:nvPr/>
        </p:nvPicPr>
        <p:blipFill rotWithShape="1">
          <a:blip r:embed="rId9">
            <a:alphaModFix/>
          </a:blip>
          <a:srcRect b="0" l="0" r="0" t="0"/>
          <a:stretch/>
        </p:blipFill>
        <p:spPr>
          <a:xfrm>
            <a:off x="7179468" y="3635573"/>
            <a:ext cx="666750" cy="666750"/>
          </a:xfrm>
          <a:prstGeom prst="rect">
            <a:avLst/>
          </a:prstGeom>
          <a:noFill/>
          <a:ln>
            <a:noFill/>
          </a:ln>
        </p:spPr>
      </p:pic>
      <p:sp>
        <p:nvSpPr>
          <p:cNvPr id="383" name="Google Shape;383;p31"/>
          <p:cNvSpPr txBox="1"/>
          <p:nvPr/>
        </p:nvSpPr>
        <p:spPr>
          <a:xfrm>
            <a:off x="6947773" y="4540448"/>
            <a:ext cx="1130141" cy="6667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0F172A"/>
                </a:solidFill>
                <a:latin typeface="Plus Jakarta Sans SemiBold"/>
                <a:ea typeface="Plus Jakarta Sans SemiBold"/>
                <a:cs typeface="Plus Jakarta Sans SemiBold"/>
                <a:sym typeface="Plus Jakarta Sans SemiBold"/>
              </a:rPr>
              <a:t>Random</a:t>
            </a:r>
            <a:br>
              <a:rPr b="0" i="0" lang="en-US" sz="1800" u="none" cap="none" strike="noStrike">
                <a:solidFill>
                  <a:schemeClr val="dk1"/>
                </a:solidFill>
                <a:latin typeface="Calibri"/>
                <a:ea typeface="Calibri"/>
                <a:cs typeface="Calibri"/>
                <a:sym typeface="Calibri"/>
              </a:rPr>
            </a:br>
            <a:r>
              <a:rPr b="0" i="0" lang="en-US" sz="2100" u="none" cap="none" strike="noStrike">
                <a:solidFill>
                  <a:srgbClr val="0F172A"/>
                </a:solidFill>
                <a:latin typeface="Plus Jakarta Sans SemiBold"/>
                <a:ea typeface="Plus Jakarta Sans SemiBold"/>
                <a:cs typeface="Plus Jakarta Sans SemiBold"/>
                <a:sym typeface="Plus Jakarta Sans SemiBold"/>
              </a:rPr>
              <a:t> Forest</a:t>
            </a:r>
            <a:endParaRPr/>
          </a:p>
        </p:txBody>
      </p:sp>
      <p:pic>
        <p:nvPicPr>
          <p:cNvPr descr="image.png" id="384" name="Google Shape;384;p31"/>
          <p:cNvPicPr preferRelativeResize="0"/>
          <p:nvPr/>
        </p:nvPicPr>
        <p:blipFill rotWithShape="1">
          <a:blip r:embed="rId10">
            <a:alphaModFix/>
          </a:blip>
          <a:srcRect b="0" l="0" r="0" t="0"/>
          <a:stretch/>
        </p:blipFill>
        <p:spPr>
          <a:xfrm>
            <a:off x="10013156" y="3635573"/>
            <a:ext cx="666750" cy="666750"/>
          </a:xfrm>
          <a:prstGeom prst="rect">
            <a:avLst/>
          </a:prstGeom>
          <a:noFill/>
          <a:ln>
            <a:noFill/>
          </a:ln>
        </p:spPr>
      </p:pic>
      <p:sp>
        <p:nvSpPr>
          <p:cNvPr id="385" name="Google Shape;385;p31"/>
          <p:cNvSpPr txBox="1"/>
          <p:nvPr/>
        </p:nvSpPr>
        <p:spPr>
          <a:xfrm>
            <a:off x="9726453" y="4540448"/>
            <a:ext cx="1240155" cy="6667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0F172A"/>
                </a:solidFill>
                <a:latin typeface="Plus Jakarta Sans SemiBold"/>
                <a:ea typeface="Plus Jakarta Sans SemiBold"/>
                <a:cs typeface="Plus Jakarta Sans SemiBold"/>
                <a:sym typeface="Plus Jakarta Sans SemiBold"/>
              </a:rPr>
              <a:t>XGBoost</a:t>
            </a:r>
            <a:br>
              <a:rPr b="0" i="0" lang="en-US" sz="1800" u="none" cap="none" strike="noStrike">
                <a:solidFill>
                  <a:schemeClr val="dk1"/>
                </a:solidFill>
                <a:latin typeface="Calibri"/>
                <a:ea typeface="Calibri"/>
                <a:cs typeface="Calibri"/>
                <a:sym typeface="Calibri"/>
              </a:rPr>
            </a:br>
            <a:r>
              <a:rPr b="0" i="0" lang="en-US" sz="2100" u="none" cap="none" strike="noStrike">
                <a:solidFill>
                  <a:srgbClr val="0F172A"/>
                </a:solidFill>
                <a:latin typeface="Plus Jakarta Sans SemiBold"/>
                <a:ea typeface="Plus Jakarta Sans SemiBold"/>
                <a:cs typeface="Plus Jakarta Sans SemiBold"/>
                <a:sym typeface="Plus Jakarta Sans SemiBold"/>
              </a:rPr>
              <a:t> Classifier</a:t>
            </a:r>
            <a:endParaRPr/>
          </a:p>
        </p:txBody>
      </p:sp>
      <p:pic>
        <p:nvPicPr>
          <p:cNvPr descr="image.png" id="386" name="Google Shape;386;p31"/>
          <p:cNvPicPr preferRelativeResize="0"/>
          <p:nvPr/>
        </p:nvPicPr>
        <p:blipFill rotWithShape="1">
          <a:blip r:embed="rId11">
            <a:alphaModFix/>
          </a:blip>
          <a:srcRect b="0" l="0" r="0" t="0"/>
          <a:stretch/>
        </p:blipFill>
        <p:spPr>
          <a:xfrm>
            <a:off x="1693068" y="3816548"/>
            <a:ext cx="304800" cy="304800"/>
          </a:xfrm>
          <a:prstGeom prst="rect">
            <a:avLst/>
          </a:prstGeom>
          <a:noFill/>
          <a:ln>
            <a:noFill/>
          </a:ln>
        </p:spPr>
      </p:pic>
      <p:pic>
        <p:nvPicPr>
          <p:cNvPr descr="image.png" id="387" name="Google Shape;387;p31"/>
          <p:cNvPicPr preferRelativeResize="0"/>
          <p:nvPr/>
        </p:nvPicPr>
        <p:blipFill rotWithShape="1">
          <a:blip r:embed="rId12">
            <a:alphaModFix/>
          </a:blip>
          <a:srcRect b="0" l="0" r="0" t="0"/>
          <a:stretch/>
        </p:blipFill>
        <p:spPr>
          <a:xfrm>
            <a:off x="4488656" y="3816548"/>
            <a:ext cx="381000" cy="304800"/>
          </a:xfrm>
          <a:prstGeom prst="rect">
            <a:avLst/>
          </a:prstGeom>
          <a:noFill/>
          <a:ln>
            <a:noFill/>
          </a:ln>
        </p:spPr>
      </p:pic>
      <p:pic>
        <p:nvPicPr>
          <p:cNvPr descr="image.png" id="388" name="Google Shape;388;p31"/>
          <p:cNvPicPr preferRelativeResize="0"/>
          <p:nvPr/>
        </p:nvPicPr>
        <p:blipFill rotWithShape="1">
          <a:blip r:embed="rId13">
            <a:alphaModFix/>
          </a:blip>
          <a:srcRect b="0" l="0" r="0" t="0"/>
          <a:stretch/>
        </p:blipFill>
        <p:spPr>
          <a:xfrm>
            <a:off x="7379493" y="3816548"/>
            <a:ext cx="266700" cy="304800"/>
          </a:xfrm>
          <a:prstGeom prst="rect">
            <a:avLst/>
          </a:prstGeom>
          <a:noFill/>
          <a:ln>
            <a:noFill/>
          </a:ln>
        </p:spPr>
      </p:pic>
      <p:pic>
        <p:nvPicPr>
          <p:cNvPr descr="image.png" id="389" name="Google Shape;389;p31"/>
          <p:cNvPicPr preferRelativeResize="0"/>
          <p:nvPr/>
        </p:nvPicPr>
        <p:blipFill rotWithShape="1">
          <a:blip r:embed="rId14">
            <a:alphaModFix/>
          </a:blip>
          <a:srcRect b="0" l="0" r="0" t="0"/>
          <a:stretch/>
        </p:blipFill>
        <p:spPr>
          <a:xfrm>
            <a:off x="10232231" y="3816548"/>
            <a:ext cx="228600" cy="304800"/>
          </a:xfrm>
          <a:prstGeom prst="rect">
            <a:avLst/>
          </a:prstGeom>
          <a:noFill/>
          <a:ln>
            <a:noFill/>
          </a:ln>
        </p:spPr>
      </p:pic>
      <p:sp>
        <p:nvSpPr>
          <p:cNvPr id="390" name="Google Shape;390;p31"/>
          <p:cNvSpPr txBox="1"/>
          <p:nvPr/>
        </p:nvSpPr>
        <p:spPr>
          <a:xfrm>
            <a:off x="571500" y="571500"/>
            <a:ext cx="11601450"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0284C7"/>
                </a:solidFill>
                <a:latin typeface="Plus Jakarta Sans"/>
                <a:ea typeface="Plus Jakarta Sans"/>
                <a:cs typeface="Plus Jakarta Sans"/>
                <a:sym typeface="Plus Jakarta Sans"/>
              </a:rPr>
              <a:t>Models Evaluated</a:t>
            </a:r>
            <a:endParaRPr/>
          </a:p>
        </p:txBody>
      </p:sp>
      <p:sp>
        <p:nvSpPr>
          <p:cNvPr id="391" name="Google Shape;391;p31"/>
          <p:cNvSpPr/>
          <p:nvPr/>
        </p:nvSpPr>
        <p:spPr>
          <a:xfrm>
            <a:off x="571500" y="1247775"/>
            <a:ext cx="110490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95" name="Shape 395"/>
        <p:cNvGrpSpPr/>
        <p:nvPr/>
      </p:nvGrpSpPr>
      <p:grpSpPr>
        <a:xfrm>
          <a:off x="0" y="0"/>
          <a:ext cx="0" cy="0"/>
          <a:chOff x="0" y="0"/>
          <a:chExt cx="0" cy="0"/>
        </a:xfrm>
      </p:grpSpPr>
      <p:pic>
        <p:nvPicPr>
          <p:cNvPr descr="image.png" id="396" name="Google Shape;396;p3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97" name="Google Shape;397;p32"/>
          <p:cNvPicPr preferRelativeResize="0"/>
          <p:nvPr/>
        </p:nvPicPr>
        <p:blipFill rotWithShape="1">
          <a:blip r:embed="rId4">
            <a:alphaModFix/>
          </a:blip>
          <a:srcRect b="0" l="0" r="0" t="0"/>
          <a:stretch/>
        </p:blipFill>
        <p:spPr>
          <a:xfrm>
            <a:off x="571500" y="1776412"/>
            <a:ext cx="11049000" cy="3333601"/>
          </a:xfrm>
          <a:prstGeom prst="rect">
            <a:avLst/>
          </a:prstGeom>
          <a:noFill/>
          <a:ln>
            <a:noFill/>
          </a:ln>
        </p:spPr>
      </p:pic>
      <p:sp>
        <p:nvSpPr>
          <p:cNvPr id="398" name="Google Shape;398;p32"/>
          <p:cNvSpPr txBox="1"/>
          <p:nvPr/>
        </p:nvSpPr>
        <p:spPr>
          <a:xfrm>
            <a:off x="571500" y="5395763"/>
            <a:ext cx="110490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1" lang="en-US" sz="1500" u="none" cap="none" strike="noStrike">
                <a:solidFill>
                  <a:srgbClr val="64748B"/>
                </a:solidFill>
                <a:latin typeface="Inter"/>
                <a:ea typeface="Inter"/>
                <a:cs typeface="Inter"/>
                <a:sym typeface="Inter"/>
              </a:rPr>
              <a:t>Ensemble methods outperform simpler models. XGBoost was selected as the final model due to its superior F1-score and ROC-AUC.</a:t>
            </a:r>
            <a:endParaRPr/>
          </a:p>
        </p:txBody>
      </p:sp>
      <p:graphicFrame>
        <p:nvGraphicFramePr>
          <p:cNvPr id="399" name="Google Shape;399;p32"/>
          <p:cNvGraphicFramePr/>
          <p:nvPr/>
        </p:nvGraphicFramePr>
        <p:xfrm>
          <a:off x="581025" y="1785937"/>
          <a:ext cx="3000000" cy="3000000"/>
        </p:xfrm>
        <a:graphic>
          <a:graphicData uri="http://schemas.openxmlformats.org/drawingml/2006/table">
            <a:tbl>
              <a:tblPr bandRow="1" firstRow="1">
                <a:noFill/>
                <a:tableStyleId>{CE1892D9-C3CD-4922-B00A-4A21593602F8}</a:tableStyleId>
              </a:tblPr>
              <a:tblGrid>
                <a:gridCol w="2724900"/>
                <a:gridCol w="1812575"/>
                <a:gridCol w="1782950"/>
                <a:gridCol w="1421600"/>
                <a:gridCol w="1670450"/>
                <a:gridCol w="1617475"/>
              </a:tblGrid>
              <a:tr h="662900">
                <a:tc>
                  <a:txBody>
                    <a:bodyPr/>
                    <a:lstStyle/>
                    <a:p>
                      <a:pPr indent="0" lvl="0" marL="0" marR="0" rtl="0" algn="l">
                        <a:spcBef>
                          <a:spcPts val="0"/>
                        </a:spcBef>
                        <a:spcAft>
                          <a:spcPts val="0"/>
                        </a:spcAft>
                        <a:buNone/>
                      </a:pPr>
                      <a:r>
                        <a:rPr b="1" i="0" lang="en-US" sz="1350" u="none" cap="none" strike="noStrike">
                          <a:solidFill>
                            <a:srgbClr val="0F172A"/>
                          </a:solidFill>
                          <a:latin typeface="Inter"/>
                          <a:ea typeface="Inter"/>
                          <a:cs typeface="Inter"/>
                          <a:sym typeface="Inter"/>
                        </a:rPr>
                        <a:t>Model</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1F5F9"/>
                    </a:solidFill>
                  </a:tcPr>
                </a:tc>
                <a:tc>
                  <a:txBody>
                    <a:bodyPr/>
                    <a:lstStyle/>
                    <a:p>
                      <a:pPr indent="0" lvl="0" marL="0" marR="0" rtl="0" algn="ctr">
                        <a:spcBef>
                          <a:spcPts val="0"/>
                        </a:spcBef>
                        <a:spcAft>
                          <a:spcPts val="0"/>
                        </a:spcAft>
                        <a:buNone/>
                      </a:pPr>
                      <a:r>
                        <a:rPr b="1" i="0" lang="en-US" sz="1350" u="none" cap="none" strike="noStrike">
                          <a:solidFill>
                            <a:srgbClr val="0F172A"/>
                          </a:solidFill>
                          <a:latin typeface="Inter"/>
                          <a:ea typeface="Inter"/>
                          <a:cs typeface="Inter"/>
                          <a:sym typeface="Inter"/>
                        </a:rPr>
                        <a:t>Accuracy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1F5F9"/>
                    </a:solidFill>
                  </a:tcPr>
                </a:tc>
                <a:tc>
                  <a:txBody>
                    <a:bodyPr/>
                    <a:lstStyle/>
                    <a:p>
                      <a:pPr indent="0" lvl="0" marL="0" marR="0" rtl="0" algn="ctr">
                        <a:spcBef>
                          <a:spcPts val="0"/>
                        </a:spcBef>
                        <a:spcAft>
                          <a:spcPts val="0"/>
                        </a:spcAft>
                        <a:buNone/>
                      </a:pPr>
                      <a:r>
                        <a:rPr b="1" i="0" lang="en-US" sz="1350" u="none" cap="none" strike="noStrike">
                          <a:solidFill>
                            <a:srgbClr val="0F172A"/>
                          </a:solidFill>
                          <a:latin typeface="Inter"/>
                          <a:ea typeface="Inter"/>
                          <a:cs typeface="Inter"/>
                          <a:sym typeface="Inter"/>
                        </a:rPr>
                        <a:t>Precision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1F5F9"/>
                    </a:solidFill>
                  </a:tcPr>
                </a:tc>
                <a:tc>
                  <a:txBody>
                    <a:bodyPr/>
                    <a:lstStyle/>
                    <a:p>
                      <a:pPr indent="0" lvl="0" marL="0" marR="0" rtl="0" algn="ctr">
                        <a:spcBef>
                          <a:spcPts val="0"/>
                        </a:spcBef>
                        <a:spcAft>
                          <a:spcPts val="0"/>
                        </a:spcAft>
                        <a:buNone/>
                      </a:pPr>
                      <a:r>
                        <a:rPr b="1" i="0" lang="en-US" sz="1350" u="none" cap="none" strike="noStrike">
                          <a:solidFill>
                            <a:srgbClr val="0F172A"/>
                          </a:solidFill>
                          <a:latin typeface="Inter"/>
                          <a:ea typeface="Inter"/>
                          <a:cs typeface="Inter"/>
                          <a:sym typeface="Inter"/>
                        </a:rPr>
                        <a:t>Recall</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1F5F9"/>
                    </a:solidFill>
                  </a:tcPr>
                </a:tc>
                <a:tc>
                  <a:txBody>
                    <a:bodyPr/>
                    <a:lstStyle/>
                    <a:p>
                      <a:pPr indent="0" lvl="0" marL="0" marR="0" rtl="0" algn="ctr">
                        <a:spcBef>
                          <a:spcPts val="0"/>
                        </a:spcBef>
                        <a:spcAft>
                          <a:spcPts val="0"/>
                        </a:spcAft>
                        <a:buNone/>
                      </a:pPr>
                      <a:r>
                        <a:rPr b="1" i="0" lang="en-US" sz="1350" u="none" cap="none" strike="noStrike">
                          <a:solidFill>
                            <a:srgbClr val="0F172A"/>
                          </a:solidFill>
                          <a:latin typeface="Inter"/>
                          <a:ea typeface="Inter"/>
                          <a:cs typeface="Inter"/>
                          <a:sym typeface="Inter"/>
                        </a:rPr>
                        <a:t>F1-score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1F5F9"/>
                    </a:solidFill>
                  </a:tcPr>
                </a:tc>
                <a:tc>
                  <a:txBody>
                    <a:bodyPr/>
                    <a:lstStyle/>
                    <a:p>
                      <a:pPr indent="0" lvl="0" marL="0" marR="0" rtl="0" algn="ctr">
                        <a:spcBef>
                          <a:spcPts val="0"/>
                        </a:spcBef>
                        <a:spcAft>
                          <a:spcPts val="0"/>
                        </a:spcAft>
                        <a:buNone/>
                      </a:pPr>
                      <a:r>
                        <a:rPr b="1" i="0" lang="en-US" sz="1350" u="none" cap="none" strike="noStrike">
                          <a:solidFill>
                            <a:srgbClr val="0F172A"/>
                          </a:solidFill>
                          <a:latin typeface="Inter"/>
                          <a:ea typeface="Inter"/>
                          <a:cs typeface="Inter"/>
                          <a:sym typeface="Inter"/>
                        </a:rPr>
                        <a:t>ROC-AUC</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1F5F9"/>
                    </a:solidFill>
                  </a:tcPr>
                </a:tc>
              </a:tr>
              <a:tr h="662900">
                <a:tc>
                  <a:txBody>
                    <a:bodyPr/>
                    <a:lstStyle/>
                    <a:p>
                      <a:pPr indent="0" lvl="0" marL="0" marR="0" rtl="0" algn="l">
                        <a:spcBef>
                          <a:spcPts val="0"/>
                        </a:spcBef>
                        <a:spcAft>
                          <a:spcPts val="0"/>
                        </a:spcAft>
                        <a:buNone/>
                      </a:pPr>
                      <a:r>
                        <a:rPr b="0" i="0" lang="en-US" sz="1350" u="none" cap="none" strike="noStrike">
                          <a:solidFill>
                            <a:srgbClr val="475569"/>
                          </a:solidFill>
                          <a:latin typeface="Inter"/>
                          <a:ea typeface="Inter"/>
                          <a:cs typeface="Inter"/>
                          <a:sym typeface="Inter"/>
                        </a:rPr>
                        <a:t>K-Nearest Neighbors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1350" u="none" cap="none" strike="noStrike">
                          <a:solidFill>
                            <a:srgbClr val="475569"/>
                          </a:solidFill>
                          <a:latin typeface="Inter"/>
                          <a:ea typeface="Inter"/>
                          <a:cs typeface="Inter"/>
                          <a:sym typeface="Inter"/>
                        </a:rPr>
                        <a:t>0.81</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1350" u="none" cap="none" strike="noStrike">
                          <a:solidFill>
                            <a:srgbClr val="475569"/>
                          </a:solidFill>
                          <a:latin typeface="Inter"/>
                          <a:ea typeface="Inter"/>
                          <a:cs typeface="Inter"/>
                          <a:sym typeface="Inter"/>
                        </a:rPr>
                        <a:t>0.79</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1350" u="none" cap="none" strike="noStrike">
                          <a:solidFill>
                            <a:srgbClr val="475569"/>
                          </a:solidFill>
                          <a:latin typeface="Inter"/>
                          <a:ea typeface="Inter"/>
                          <a:cs typeface="Inter"/>
                          <a:sym typeface="Inter"/>
                        </a:rPr>
                        <a:t>0.76</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1350" u="none" cap="none" strike="noStrike">
                          <a:solidFill>
                            <a:srgbClr val="475569"/>
                          </a:solidFill>
                          <a:latin typeface="Inter"/>
                          <a:ea typeface="Inter"/>
                          <a:cs typeface="Inter"/>
                          <a:sym typeface="Inter"/>
                        </a:rPr>
                        <a:t>0.77</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1350" u="none" cap="none" strike="noStrike">
                          <a:solidFill>
                            <a:srgbClr val="475569"/>
                          </a:solidFill>
                          <a:latin typeface="Inter"/>
                          <a:ea typeface="Inter"/>
                          <a:cs typeface="Inter"/>
                          <a:sym typeface="Inter"/>
                        </a:rPr>
                        <a:t>0.82</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62900">
                <a:tc>
                  <a:txBody>
                    <a:bodyPr/>
                    <a:lstStyle/>
                    <a:p>
                      <a:pPr indent="0" lvl="0" marL="0" marR="0" rtl="0" algn="l">
                        <a:spcBef>
                          <a:spcPts val="0"/>
                        </a:spcBef>
                        <a:spcAft>
                          <a:spcPts val="0"/>
                        </a:spcAft>
                        <a:buNone/>
                      </a:pPr>
                      <a:r>
                        <a:rPr b="0" i="0" lang="en-US" sz="1350" u="none" cap="none" strike="noStrike">
                          <a:solidFill>
                            <a:srgbClr val="475569"/>
                          </a:solidFill>
                          <a:latin typeface="Inter"/>
                          <a:ea typeface="Inter"/>
                          <a:cs typeface="Inter"/>
                          <a:sym typeface="Inter"/>
                        </a:rPr>
                        <a:t>Decision Tree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None/>
                      </a:pPr>
                      <a:r>
                        <a:rPr b="0" i="0" lang="en-US" sz="1350" u="none" cap="none" strike="noStrike">
                          <a:solidFill>
                            <a:srgbClr val="475569"/>
                          </a:solidFill>
                          <a:latin typeface="Inter"/>
                          <a:ea typeface="Inter"/>
                          <a:cs typeface="Inter"/>
                          <a:sym typeface="Inter"/>
                        </a:rPr>
                        <a:t>0.83</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None/>
                      </a:pPr>
                      <a:r>
                        <a:rPr b="0" i="0" lang="en-US" sz="1350" u="none" cap="none" strike="noStrike">
                          <a:solidFill>
                            <a:srgbClr val="475569"/>
                          </a:solidFill>
                          <a:latin typeface="Inter"/>
                          <a:ea typeface="Inter"/>
                          <a:cs typeface="Inter"/>
                          <a:sym typeface="Inter"/>
                        </a:rPr>
                        <a:t>0.81</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None/>
                      </a:pPr>
                      <a:r>
                        <a:rPr b="0" i="0" lang="en-US" sz="1350" u="none" cap="none" strike="noStrike">
                          <a:solidFill>
                            <a:srgbClr val="475569"/>
                          </a:solidFill>
                          <a:latin typeface="Inter"/>
                          <a:ea typeface="Inter"/>
                          <a:cs typeface="Inter"/>
                          <a:sym typeface="Inter"/>
                        </a:rPr>
                        <a:t>0.80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None/>
                      </a:pPr>
                      <a:r>
                        <a:rPr b="0" i="0" lang="en-US" sz="1350" u="none" cap="none" strike="noStrike">
                          <a:solidFill>
                            <a:srgbClr val="475569"/>
                          </a:solidFill>
                          <a:latin typeface="Inter"/>
                          <a:ea typeface="Inter"/>
                          <a:cs typeface="Inter"/>
                          <a:sym typeface="Inter"/>
                        </a:rPr>
                        <a:t>0.80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None/>
                      </a:pPr>
                      <a:r>
                        <a:rPr b="0" i="0" lang="en-US" sz="1350" u="none" cap="none" strike="noStrike">
                          <a:solidFill>
                            <a:srgbClr val="475569"/>
                          </a:solidFill>
                          <a:latin typeface="Inter"/>
                          <a:ea typeface="Inter"/>
                          <a:cs typeface="Inter"/>
                          <a:sym typeface="Inter"/>
                        </a:rPr>
                        <a:t>0.84</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662900">
                <a:tc>
                  <a:txBody>
                    <a:bodyPr/>
                    <a:lstStyle/>
                    <a:p>
                      <a:pPr indent="0" lvl="0" marL="0" marR="0" rtl="0" algn="l">
                        <a:spcBef>
                          <a:spcPts val="0"/>
                        </a:spcBef>
                        <a:spcAft>
                          <a:spcPts val="0"/>
                        </a:spcAft>
                        <a:buNone/>
                      </a:pPr>
                      <a:r>
                        <a:rPr b="0" i="0" lang="en-US" sz="1350" u="none" cap="none" strike="noStrike">
                          <a:solidFill>
                            <a:srgbClr val="475569"/>
                          </a:solidFill>
                          <a:latin typeface="Inter"/>
                          <a:ea typeface="Inter"/>
                          <a:cs typeface="Inter"/>
                          <a:sym typeface="Inter"/>
                        </a:rPr>
                        <a:t>Random Forest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1350" u="none" cap="none" strike="noStrike">
                          <a:solidFill>
                            <a:srgbClr val="475569"/>
                          </a:solidFill>
                          <a:latin typeface="Inter"/>
                          <a:ea typeface="Inter"/>
                          <a:cs typeface="Inter"/>
                          <a:sym typeface="Inter"/>
                        </a:rPr>
                        <a:t>0.88</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1350" u="none" cap="none" strike="noStrike">
                          <a:solidFill>
                            <a:srgbClr val="475569"/>
                          </a:solidFill>
                          <a:latin typeface="Inter"/>
                          <a:ea typeface="Inter"/>
                          <a:cs typeface="Inter"/>
                          <a:sym typeface="Inter"/>
                        </a:rPr>
                        <a:t>0.87</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1350" u="none" cap="none" strike="noStrike">
                          <a:solidFill>
                            <a:srgbClr val="475569"/>
                          </a:solidFill>
                          <a:latin typeface="Inter"/>
                          <a:ea typeface="Inter"/>
                          <a:cs typeface="Inter"/>
                          <a:sym typeface="Inter"/>
                        </a:rPr>
                        <a:t>0.85</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1350" u="none" cap="none" strike="noStrike">
                          <a:solidFill>
                            <a:srgbClr val="475569"/>
                          </a:solidFill>
                          <a:latin typeface="Inter"/>
                          <a:ea typeface="Inter"/>
                          <a:cs typeface="Inter"/>
                          <a:sym typeface="Inter"/>
                        </a:rPr>
                        <a:t>0.86</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1350" u="none" cap="none" strike="noStrike">
                          <a:solidFill>
                            <a:srgbClr val="475569"/>
                          </a:solidFill>
                          <a:latin typeface="Inter"/>
                          <a:ea typeface="Inter"/>
                          <a:cs typeface="Inter"/>
                          <a:sym typeface="Inter"/>
                        </a:rPr>
                        <a:t>0.90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62900">
                <a:tc>
                  <a:txBody>
                    <a:bodyPr/>
                    <a:lstStyle/>
                    <a:p>
                      <a:pPr indent="0" lvl="0" marL="0" marR="0" rtl="0" algn="l">
                        <a:spcBef>
                          <a:spcPts val="0"/>
                        </a:spcBef>
                        <a:spcAft>
                          <a:spcPts val="0"/>
                        </a:spcAft>
                        <a:buNone/>
                      </a:pPr>
                      <a:r>
                        <a:rPr b="0" i="0" lang="en-US" sz="1350" u="none" cap="none" strike="noStrike">
                          <a:solidFill>
                            <a:srgbClr val="0284C7"/>
                          </a:solidFill>
                          <a:latin typeface="Inter SemiBold"/>
                          <a:ea typeface="Inter SemiBold"/>
                          <a:cs typeface="Inter SemiBold"/>
                          <a:sym typeface="Inter SemiBold"/>
                        </a:rPr>
                        <a:t>XGBoost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0F9FF"/>
                    </a:solidFill>
                  </a:tcPr>
                </a:tc>
                <a:tc>
                  <a:txBody>
                    <a:bodyPr/>
                    <a:lstStyle/>
                    <a:p>
                      <a:pPr indent="0" lvl="0" marL="0" marR="0" rtl="0" algn="ctr">
                        <a:spcBef>
                          <a:spcPts val="0"/>
                        </a:spcBef>
                        <a:spcAft>
                          <a:spcPts val="0"/>
                        </a:spcAft>
                        <a:buNone/>
                      </a:pPr>
                      <a:r>
                        <a:rPr b="0" i="0" lang="en-US" sz="1350" u="none" cap="none" strike="noStrike">
                          <a:solidFill>
                            <a:srgbClr val="0284C7"/>
                          </a:solidFill>
                          <a:latin typeface="Inter SemiBold"/>
                          <a:ea typeface="Inter SemiBold"/>
                          <a:cs typeface="Inter SemiBold"/>
                          <a:sym typeface="Inter SemiBold"/>
                        </a:rPr>
                        <a:t>0.90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0F9FF"/>
                    </a:solidFill>
                  </a:tcPr>
                </a:tc>
                <a:tc>
                  <a:txBody>
                    <a:bodyPr/>
                    <a:lstStyle/>
                    <a:p>
                      <a:pPr indent="0" lvl="0" marL="0" marR="0" rtl="0" algn="ctr">
                        <a:spcBef>
                          <a:spcPts val="0"/>
                        </a:spcBef>
                        <a:spcAft>
                          <a:spcPts val="0"/>
                        </a:spcAft>
                        <a:buNone/>
                      </a:pPr>
                      <a:r>
                        <a:rPr b="0" i="0" lang="en-US" sz="1350" u="none" cap="none" strike="noStrike">
                          <a:solidFill>
                            <a:srgbClr val="0284C7"/>
                          </a:solidFill>
                          <a:latin typeface="Inter SemiBold"/>
                          <a:ea typeface="Inter SemiBold"/>
                          <a:cs typeface="Inter SemiBold"/>
                          <a:sym typeface="Inter SemiBold"/>
                        </a:rPr>
                        <a:t>0.89</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0F9FF"/>
                    </a:solidFill>
                  </a:tcPr>
                </a:tc>
                <a:tc>
                  <a:txBody>
                    <a:bodyPr/>
                    <a:lstStyle/>
                    <a:p>
                      <a:pPr indent="0" lvl="0" marL="0" marR="0" rtl="0" algn="ctr">
                        <a:spcBef>
                          <a:spcPts val="0"/>
                        </a:spcBef>
                        <a:spcAft>
                          <a:spcPts val="0"/>
                        </a:spcAft>
                        <a:buNone/>
                      </a:pPr>
                      <a:r>
                        <a:rPr b="0" i="0" lang="en-US" sz="1350" u="none" cap="none" strike="noStrike">
                          <a:solidFill>
                            <a:srgbClr val="0284C7"/>
                          </a:solidFill>
                          <a:latin typeface="Inter SemiBold"/>
                          <a:ea typeface="Inter SemiBold"/>
                          <a:cs typeface="Inter SemiBold"/>
                          <a:sym typeface="Inter SemiBold"/>
                        </a:rPr>
                        <a:t>0.88</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0F9FF"/>
                    </a:solidFill>
                  </a:tcPr>
                </a:tc>
                <a:tc>
                  <a:txBody>
                    <a:bodyPr/>
                    <a:lstStyle/>
                    <a:p>
                      <a:pPr indent="0" lvl="0" marL="0" marR="0" rtl="0" algn="ctr">
                        <a:spcBef>
                          <a:spcPts val="0"/>
                        </a:spcBef>
                        <a:spcAft>
                          <a:spcPts val="0"/>
                        </a:spcAft>
                        <a:buNone/>
                      </a:pPr>
                      <a:r>
                        <a:rPr b="0" i="0" lang="en-US" sz="1350" u="none" cap="none" strike="noStrike">
                          <a:solidFill>
                            <a:srgbClr val="0284C7"/>
                          </a:solidFill>
                          <a:latin typeface="Inter SemiBold"/>
                          <a:ea typeface="Inter SemiBold"/>
                          <a:cs typeface="Inter SemiBold"/>
                          <a:sym typeface="Inter SemiBold"/>
                        </a:rPr>
                        <a:t>0.88</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0F9FF"/>
                    </a:solidFill>
                  </a:tcPr>
                </a:tc>
                <a:tc>
                  <a:txBody>
                    <a:bodyPr/>
                    <a:lstStyle/>
                    <a:p>
                      <a:pPr indent="0" lvl="0" marL="0" marR="0" rtl="0" algn="ctr">
                        <a:spcBef>
                          <a:spcPts val="0"/>
                        </a:spcBef>
                        <a:spcAft>
                          <a:spcPts val="0"/>
                        </a:spcAft>
                        <a:buNone/>
                      </a:pPr>
                      <a:r>
                        <a:rPr b="0" i="0" lang="en-US" sz="1350" u="none" cap="none" strike="noStrike">
                          <a:solidFill>
                            <a:srgbClr val="0284C7"/>
                          </a:solidFill>
                          <a:latin typeface="Inter SemiBold"/>
                          <a:ea typeface="Inter SemiBold"/>
                          <a:cs typeface="Inter SemiBold"/>
                          <a:sym typeface="Inter SemiBold"/>
                        </a:rPr>
                        <a:t>0.92</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0F9FF"/>
                    </a:solidFill>
                  </a:tcPr>
                </a:tc>
              </a:tr>
            </a:tbl>
          </a:graphicData>
        </a:graphic>
      </p:graphicFrame>
      <p:sp>
        <p:nvSpPr>
          <p:cNvPr id="400" name="Google Shape;400;p32"/>
          <p:cNvSpPr/>
          <p:nvPr/>
        </p:nvSpPr>
        <p:spPr>
          <a:xfrm>
            <a:off x="581025" y="2436465"/>
            <a:ext cx="272489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1" name="Google Shape;401;p32"/>
          <p:cNvSpPr/>
          <p:nvPr/>
        </p:nvSpPr>
        <p:spPr>
          <a:xfrm>
            <a:off x="3305919" y="2436465"/>
            <a:ext cx="181257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2" name="Google Shape;402;p32"/>
          <p:cNvSpPr/>
          <p:nvPr/>
        </p:nvSpPr>
        <p:spPr>
          <a:xfrm>
            <a:off x="5118496" y="2436465"/>
            <a:ext cx="178296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3" name="Google Shape;403;p32"/>
          <p:cNvSpPr/>
          <p:nvPr/>
        </p:nvSpPr>
        <p:spPr>
          <a:xfrm>
            <a:off x="6901457" y="2436465"/>
            <a:ext cx="142160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4" name="Google Shape;404;p32"/>
          <p:cNvSpPr/>
          <p:nvPr/>
        </p:nvSpPr>
        <p:spPr>
          <a:xfrm>
            <a:off x="8323064" y="2436465"/>
            <a:ext cx="167044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5" name="Google Shape;405;p32"/>
          <p:cNvSpPr/>
          <p:nvPr/>
        </p:nvSpPr>
        <p:spPr>
          <a:xfrm>
            <a:off x="9993510" y="2436465"/>
            <a:ext cx="161746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6" name="Google Shape;406;p32"/>
          <p:cNvSpPr/>
          <p:nvPr/>
        </p:nvSpPr>
        <p:spPr>
          <a:xfrm>
            <a:off x="581025" y="3101280"/>
            <a:ext cx="272489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7" name="Google Shape;407;p32"/>
          <p:cNvSpPr/>
          <p:nvPr/>
        </p:nvSpPr>
        <p:spPr>
          <a:xfrm>
            <a:off x="3305919" y="3101280"/>
            <a:ext cx="181257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8" name="Google Shape;408;p32"/>
          <p:cNvSpPr/>
          <p:nvPr/>
        </p:nvSpPr>
        <p:spPr>
          <a:xfrm>
            <a:off x="5118496" y="3101280"/>
            <a:ext cx="178296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9" name="Google Shape;409;p32"/>
          <p:cNvSpPr/>
          <p:nvPr/>
        </p:nvSpPr>
        <p:spPr>
          <a:xfrm>
            <a:off x="6901457" y="3101280"/>
            <a:ext cx="142160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0" name="Google Shape;410;p32"/>
          <p:cNvSpPr/>
          <p:nvPr/>
        </p:nvSpPr>
        <p:spPr>
          <a:xfrm>
            <a:off x="8323064" y="3101280"/>
            <a:ext cx="167044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1" name="Google Shape;411;p32"/>
          <p:cNvSpPr/>
          <p:nvPr/>
        </p:nvSpPr>
        <p:spPr>
          <a:xfrm>
            <a:off x="9993510" y="3101280"/>
            <a:ext cx="161746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2" name="Google Shape;412;p32"/>
          <p:cNvSpPr/>
          <p:nvPr/>
        </p:nvSpPr>
        <p:spPr>
          <a:xfrm>
            <a:off x="581025" y="3766095"/>
            <a:ext cx="272489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3" name="Google Shape;413;p32"/>
          <p:cNvSpPr/>
          <p:nvPr/>
        </p:nvSpPr>
        <p:spPr>
          <a:xfrm>
            <a:off x="3305919" y="3766095"/>
            <a:ext cx="181257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4" name="Google Shape;414;p32"/>
          <p:cNvSpPr/>
          <p:nvPr/>
        </p:nvSpPr>
        <p:spPr>
          <a:xfrm>
            <a:off x="5118496" y="3766095"/>
            <a:ext cx="178296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5" name="Google Shape;415;p32"/>
          <p:cNvSpPr/>
          <p:nvPr/>
        </p:nvSpPr>
        <p:spPr>
          <a:xfrm>
            <a:off x="6901457" y="3766095"/>
            <a:ext cx="142160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6" name="Google Shape;416;p32"/>
          <p:cNvSpPr/>
          <p:nvPr/>
        </p:nvSpPr>
        <p:spPr>
          <a:xfrm>
            <a:off x="8323064" y="3766095"/>
            <a:ext cx="167044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7" name="Google Shape;417;p32"/>
          <p:cNvSpPr/>
          <p:nvPr/>
        </p:nvSpPr>
        <p:spPr>
          <a:xfrm>
            <a:off x="9993510" y="3766095"/>
            <a:ext cx="161746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8" name="Google Shape;418;p32"/>
          <p:cNvSpPr/>
          <p:nvPr/>
        </p:nvSpPr>
        <p:spPr>
          <a:xfrm>
            <a:off x="581025" y="4430910"/>
            <a:ext cx="272489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9" name="Google Shape;419;p32"/>
          <p:cNvSpPr/>
          <p:nvPr/>
        </p:nvSpPr>
        <p:spPr>
          <a:xfrm>
            <a:off x="3305919" y="4430910"/>
            <a:ext cx="181257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0" name="Google Shape;420;p32"/>
          <p:cNvSpPr/>
          <p:nvPr/>
        </p:nvSpPr>
        <p:spPr>
          <a:xfrm>
            <a:off x="5118496" y="4430910"/>
            <a:ext cx="178296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1" name="Google Shape;421;p32"/>
          <p:cNvSpPr/>
          <p:nvPr/>
        </p:nvSpPr>
        <p:spPr>
          <a:xfrm>
            <a:off x="6901457" y="4430910"/>
            <a:ext cx="142160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2" name="Google Shape;422;p32"/>
          <p:cNvSpPr/>
          <p:nvPr/>
        </p:nvSpPr>
        <p:spPr>
          <a:xfrm>
            <a:off x="8323064" y="4430910"/>
            <a:ext cx="167044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3" name="Google Shape;423;p32"/>
          <p:cNvSpPr/>
          <p:nvPr/>
        </p:nvSpPr>
        <p:spPr>
          <a:xfrm>
            <a:off x="9993510" y="4430910"/>
            <a:ext cx="161746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4" name="Google Shape;424;p32"/>
          <p:cNvSpPr txBox="1"/>
          <p:nvPr/>
        </p:nvSpPr>
        <p:spPr>
          <a:xfrm>
            <a:off x="571500" y="571500"/>
            <a:ext cx="11601450"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0284C7"/>
                </a:solidFill>
                <a:latin typeface="Plus Jakarta Sans"/>
                <a:ea typeface="Plus Jakarta Sans"/>
                <a:cs typeface="Plus Jakarta Sans"/>
                <a:sym typeface="Plus Jakarta Sans"/>
              </a:rPr>
              <a:t>Model Evaluation Results</a:t>
            </a:r>
            <a:endParaRPr/>
          </a:p>
        </p:txBody>
      </p:sp>
      <p:sp>
        <p:nvSpPr>
          <p:cNvPr id="425" name="Google Shape;425;p32"/>
          <p:cNvSpPr/>
          <p:nvPr/>
        </p:nvSpPr>
        <p:spPr>
          <a:xfrm>
            <a:off x="571500" y="1247775"/>
            <a:ext cx="110490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429" name="Shape 429"/>
        <p:cNvGrpSpPr/>
        <p:nvPr/>
      </p:nvGrpSpPr>
      <p:grpSpPr>
        <a:xfrm>
          <a:off x="0" y="0"/>
          <a:ext cx="0" cy="0"/>
          <a:chOff x="0" y="0"/>
          <a:chExt cx="0" cy="0"/>
        </a:xfrm>
      </p:grpSpPr>
      <p:pic>
        <p:nvPicPr>
          <p:cNvPr descr="image.png" id="430" name="Google Shape;430;p3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431" name="Google Shape;431;p33"/>
          <p:cNvPicPr preferRelativeResize="0"/>
          <p:nvPr/>
        </p:nvPicPr>
        <p:blipFill rotWithShape="1">
          <a:blip r:embed="rId4">
            <a:alphaModFix/>
          </a:blip>
          <a:srcRect b="0" l="0" r="0" t="0"/>
          <a:stretch/>
        </p:blipFill>
        <p:spPr>
          <a:xfrm>
            <a:off x="571500" y="2652712"/>
            <a:ext cx="5238750" cy="2628900"/>
          </a:xfrm>
          <a:prstGeom prst="rect">
            <a:avLst/>
          </a:prstGeom>
          <a:noFill/>
          <a:ln>
            <a:noFill/>
          </a:ln>
        </p:spPr>
      </p:pic>
      <p:pic>
        <p:nvPicPr>
          <p:cNvPr descr="image.png" id="432" name="Google Shape;432;p33"/>
          <p:cNvPicPr preferRelativeResize="0"/>
          <p:nvPr/>
        </p:nvPicPr>
        <p:blipFill rotWithShape="1">
          <a:blip r:embed="rId5">
            <a:alphaModFix/>
          </a:blip>
          <a:srcRect b="0" l="0" r="0" t="0"/>
          <a:stretch/>
        </p:blipFill>
        <p:spPr>
          <a:xfrm>
            <a:off x="6381750" y="2652712"/>
            <a:ext cx="5238750" cy="2628900"/>
          </a:xfrm>
          <a:prstGeom prst="rect">
            <a:avLst/>
          </a:prstGeom>
          <a:noFill/>
          <a:ln>
            <a:noFill/>
          </a:ln>
        </p:spPr>
      </p:pic>
      <p:sp>
        <p:nvSpPr>
          <p:cNvPr id="433" name="Google Shape;433;p33"/>
          <p:cNvSpPr txBox="1"/>
          <p:nvPr/>
        </p:nvSpPr>
        <p:spPr>
          <a:xfrm>
            <a:off x="962025" y="3043237"/>
            <a:ext cx="4680585" cy="3333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0F172A"/>
                </a:solidFill>
                <a:latin typeface="Plus Jakarta Sans SemiBold"/>
                <a:ea typeface="Plus Jakarta Sans SemiBold"/>
                <a:cs typeface="Plus Jakarta Sans SemiBold"/>
                <a:sym typeface="Plus Jakarta Sans SemiBold"/>
              </a:rPr>
              <a:t>Regression Objective</a:t>
            </a:r>
            <a:endParaRPr/>
          </a:p>
        </p:txBody>
      </p:sp>
      <p:sp>
        <p:nvSpPr>
          <p:cNvPr id="434" name="Google Shape;434;p33"/>
          <p:cNvSpPr txBox="1"/>
          <p:nvPr/>
        </p:nvSpPr>
        <p:spPr>
          <a:xfrm>
            <a:off x="962025" y="3519487"/>
            <a:ext cx="4457700" cy="121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75569"/>
                </a:solidFill>
                <a:latin typeface="Inter"/>
                <a:ea typeface="Inter"/>
                <a:cs typeface="Inter"/>
                <a:sym typeface="Inter"/>
              </a:rPr>
              <a:t>We formulated a supervised regression problem to estimate total customer monetary value. This allows the business to forecast lifetime value and optimize marketing spend.</a:t>
            </a:r>
            <a:endParaRPr/>
          </a:p>
        </p:txBody>
      </p:sp>
      <p:sp>
        <p:nvSpPr>
          <p:cNvPr id="435" name="Google Shape;435;p33"/>
          <p:cNvSpPr txBox="1"/>
          <p:nvPr/>
        </p:nvSpPr>
        <p:spPr>
          <a:xfrm>
            <a:off x="6772275" y="3043237"/>
            <a:ext cx="4680585" cy="3333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0F172A"/>
                </a:solidFill>
                <a:latin typeface="Plus Jakarta Sans SemiBold"/>
                <a:ea typeface="Plus Jakarta Sans SemiBold"/>
                <a:cs typeface="Plus Jakarta Sans SemiBold"/>
                <a:sym typeface="Plus Jakarta Sans SemiBold"/>
              </a:rPr>
              <a:t>Data Safeguards</a:t>
            </a:r>
            <a:endParaRPr/>
          </a:p>
        </p:txBody>
      </p:sp>
      <p:sp>
        <p:nvSpPr>
          <p:cNvPr id="436" name="Google Shape;436;p33"/>
          <p:cNvSpPr txBox="1"/>
          <p:nvPr/>
        </p:nvSpPr>
        <p:spPr>
          <a:xfrm>
            <a:off x="6772275" y="3519487"/>
            <a:ext cx="4457700" cy="121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75569"/>
                </a:solidFill>
                <a:latin typeface="Inter"/>
                <a:ea typeface="Inter"/>
                <a:cs typeface="Inter"/>
                <a:sym typeface="Inter"/>
              </a:rPr>
              <a:t>Outliers in the target variable were aggressively clipped at the 99th percentile. This prevents extreme, anomalous high-spenders from biasing the regression curve.</a:t>
            </a:r>
            <a:endParaRPr/>
          </a:p>
        </p:txBody>
      </p:sp>
      <p:sp>
        <p:nvSpPr>
          <p:cNvPr id="437" name="Google Shape;437;p33"/>
          <p:cNvSpPr txBox="1"/>
          <p:nvPr/>
        </p:nvSpPr>
        <p:spPr>
          <a:xfrm>
            <a:off x="571500" y="571500"/>
            <a:ext cx="11601450"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0284C7"/>
                </a:solidFill>
                <a:latin typeface="Plus Jakarta Sans"/>
                <a:ea typeface="Plus Jakarta Sans"/>
                <a:cs typeface="Plus Jakarta Sans"/>
                <a:sym typeface="Plus Jakarta Sans"/>
              </a:rPr>
              <a:t>Revenue Prediction Pipeline</a:t>
            </a:r>
            <a:endParaRPr/>
          </a:p>
        </p:txBody>
      </p:sp>
      <p:sp>
        <p:nvSpPr>
          <p:cNvPr id="438" name="Google Shape;438;p33"/>
          <p:cNvSpPr/>
          <p:nvPr/>
        </p:nvSpPr>
        <p:spPr>
          <a:xfrm>
            <a:off x="571500" y="1247775"/>
            <a:ext cx="110490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442" name="Shape 442"/>
        <p:cNvGrpSpPr/>
        <p:nvPr/>
      </p:nvGrpSpPr>
      <p:grpSpPr>
        <a:xfrm>
          <a:off x="0" y="0"/>
          <a:ext cx="0" cy="0"/>
          <a:chOff x="0" y="0"/>
          <a:chExt cx="0" cy="0"/>
        </a:xfrm>
      </p:grpSpPr>
      <p:pic>
        <p:nvPicPr>
          <p:cNvPr descr="image.png" id="443" name="Google Shape;443;p3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444" name="Google Shape;444;p34"/>
          <p:cNvSpPr txBox="1"/>
          <p:nvPr/>
        </p:nvSpPr>
        <p:spPr>
          <a:xfrm>
            <a:off x="918525" y="521925"/>
            <a:ext cx="9297300" cy="5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0284C7"/>
                </a:solidFill>
                <a:latin typeface="Plus Jakarta Sans"/>
                <a:ea typeface="Plus Jakarta Sans"/>
                <a:cs typeface="Plus Jakarta Sans"/>
                <a:sym typeface="Plus Jakarta Sans"/>
              </a:rPr>
              <a:t>Web Application Deployment</a:t>
            </a:r>
            <a:endParaRPr/>
          </a:p>
        </p:txBody>
      </p:sp>
      <p:sp>
        <p:nvSpPr>
          <p:cNvPr id="445" name="Google Shape;445;p34"/>
          <p:cNvSpPr/>
          <p:nvPr/>
        </p:nvSpPr>
        <p:spPr>
          <a:xfrm>
            <a:off x="571500" y="1781175"/>
            <a:ext cx="523875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6" name="Google Shape;446;p34"/>
          <p:cNvSpPr txBox="1"/>
          <p:nvPr/>
        </p:nvSpPr>
        <p:spPr>
          <a:xfrm>
            <a:off x="571500" y="3014650"/>
            <a:ext cx="99420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75569"/>
                </a:solidFill>
                <a:latin typeface="Inter"/>
                <a:ea typeface="Inter"/>
                <a:cs typeface="Inter"/>
                <a:sym typeface="Inter"/>
              </a:rPr>
              <a:t>The entire machine learning pipeline was operationalized via a Flask-based web application, providing a scalable REST interface.</a:t>
            </a:r>
            <a:endParaRPr/>
          </a:p>
        </p:txBody>
      </p:sp>
      <p:sp>
        <p:nvSpPr>
          <p:cNvPr id="447" name="Google Shape;447;p34"/>
          <p:cNvSpPr txBox="1"/>
          <p:nvPr/>
        </p:nvSpPr>
        <p:spPr>
          <a:xfrm>
            <a:off x="571500" y="4081450"/>
            <a:ext cx="96444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75569"/>
                </a:solidFill>
                <a:latin typeface="Inter"/>
                <a:ea typeface="Inter"/>
                <a:cs typeface="Inter"/>
                <a:sym typeface="Inter"/>
              </a:rPr>
              <a:t>Pre-trained models are loaded using Joblib. The backend processes incoming requests using the exact same preprocessing, scaling, and PCA steps used during training to ensure strict consistency.</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451" name="Shape 451"/>
        <p:cNvGrpSpPr/>
        <p:nvPr/>
      </p:nvGrpSpPr>
      <p:grpSpPr>
        <a:xfrm>
          <a:off x="0" y="0"/>
          <a:ext cx="0" cy="0"/>
          <a:chOff x="0" y="0"/>
          <a:chExt cx="0" cy="0"/>
        </a:xfrm>
      </p:grpSpPr>
      <p:pic>
        <p:nvPicPr>
          <p:cNvPr id="452" name="Google Shape;452;p35"/>
          <p:cNvPicPr preferRelativeResize="0"/>
          <p:nvPr/>
        </p:nvPicPr>
        <p:blipFill>
          <a:blip r:embed="rId3">
            <a:alphaModFix/>
          </a:blip>
          <a:stretch>
            <a:fillRect/>
          </a:stretch>
        </p:blipFill>
        <p:spPr>
          <a:xfrm>
            <a:off x="0" y="60900"/>
            <a:ext cx="12265074" cy="664469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456" name="Shape 456"/>
        <p:cNvGrpSpPr/>
        <p:nvPr/>
      </p:nvGrpSpPr>
      <p:grpSpPr>
        <a:xfrm>
          <a:off x="0" y="0"/>
          <a:ext cx="0" cy="0"/>
          <a:chOff x="0" y="0"/>
          <a:chExt cx="0" cy="0"/>
        </a:xfrm>
      </p:grpSpPr>
      <p:pic>
        <p:nvPicPr>
          <p:cNvPr descr="image.png" id="457" name="Google Shape;457;p3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458" name="Google Shape;458;p36"/>
          <p:cNvPicPr preferRelativeResize="0"/>
          <p:nvPr/>
        </p:nvPicPr>
        <p:blipFill rotWithShape="1">
          <a:blip r:embed="rId4">
            <a:alphaModFix/>
          </a:blip>
          <a:srcRect b="0" l="0" r="0" t="0"/>
          <a:stretch/>
        </p:blipFill>
        <p:spPr>
          <a:xfrm>
            <a:off x="571500" y="2303115"/>
            <a:ext cx="3492400" cy="3327945"/>
          </a:xfrm>
          <a:prstGeom prst="rect">
            <a:avLst/>
          </a:prstGeom>
          <a:noFill/>
          <a:ln>
            <a:noFill/>
          </a:ln>
        </p:spPr>
      </p:pic>
      <p:pic>
        <p:nvPicPr>
          <p:cNvPr descr="image.png" id="459" name="Google Shape;459;p36"/>
          <p:cNvPicPr preferRelativeResize="0"/>
          <p:nvPr/>
        </p:nvPicPr>
        <p:blipFill rotWithShape="1">
          <a:blip r:embed="rId5">
            <a:alphaModFix/>
          </a:blip>
          <a:srcRect b="0" l="0" r="0" t="0"/>
          <a:stretch/>
        </p:blipFill>
        <p:spPr>
          <a:xfrm>
            <a:off x="4349650" y="2303115"/>
            <a:ext cx="3492549" cy="3327945"/>
          </a:xfrm>
          <a:prstGeom prst="rect">
            <a:avLst/>
          </a:prstGeom>
          <a:noFill/>
          <a:ln>
            <a:noFill/>
          </a:ln>
        </p:spPr>
      </p:pic>
      <p:pic>
        <p:nvPicPr>
          <p:cNvPr descr="image.png" id="460" name="Google Shape;460;p36"/>
          <p:cNvPicPr preferRelativeResize="0"/>
          <p:nvPr/>
        </p:nvPicPr>
        <p:blipFill rotWithShape="1">
          <a:blip r:embed="rId6">
            <a:alphaModFix/>
          </a:blip>
          <a:srcRect b="0" l="0" r="0" t="0"/>
          <a:stretch/>
        </p:blipFill>
        <p:spPr>
          <a:xfrm>
            <a:off x="8127950" y="2303115"/>
            <a:ext cx="3492400" cy="3327945"/>
          </a:xfrm>
          <a:prstGeom prst="rect">
            <a:avLst/>
          </a:prstGeom>
          <a:noFill/>
          <a:ln>
            <a:noFill/>
          </a:ln>
        </p:spPr>
      </p:pic>
      <p:pic>
        <p:nvPicPr>
          <p:cNvPr descr="image.png" id="461" name="Google Shape;461;p36"/>
          <p:cNvPicPr preferRelativeResize="0"/>
          <p:nvPr/>
        </p:nvPicPr>
        <p:blipFill rotWithShape="1">
          <a:blip r:embed="rId7">
            <a:alphaModFix/>
          </a:blip>
          <a:srcRect b="0" l="0" r="0" t="0"/>
          <a:stretch/>
        </p:blipFill>
        <p:spPr>
          <a:xfrm>
            <a:off x="1889075" y="2693640"/>
            <a:ext cx="857250" cy="857250"/>
          </a:xfrm>
          <a:prstGeom prst="rect">
            <a:avLst/>
          </a:prstGeom>
          <a:noFill/>
          <a:ln>
            <a:noFill/>
          </a:ln>
        </p:spPr>
      </p:pic>
      <p:sp>
        <p:nvSpPr>
          <p:cNvPr id="462" name="Google Shape;462;p36"/>
          <p:cNvSpPr txBox="1"/>
          <p:nvPr/>
        </p:nvSpPr>
        <p:spPr>
          <a:xfrm>
            <a:off x="1087546" y="3789015"/>
            <a:ext cx="2460307" cy="3333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0F172A"/>
                </a:solidFill>
                <a:latin typeface="Plus Jakarta Sans SemiBold"/>
                <a:ea typeface="Plus Jakarta Sans SemiBold"/>
                <a:cs typeface="Plus Jakarta Sans SemiBold"/>
                <a:sym typeface="Plus Jakarta Sans SemiBold"/>
              </a:rPr>
              <a:t>Prediction Module</a:t>
            </a:r>
            <a:endParaRPr/>
          </a:p>
        </p:txBody>
      </p:sp>
      <p:sp>
        <p:nvSpPr>
          <p:cNvPr id="463" name="Google Shape;463;p36"/>
          <p:cNvSpPr txBox="1"/>
          <p:nvPr/>
        </p:nvSpPr>
        <p:spPr>
          <a:xfrm>
            <a:off x="866775" y="4265265"/>
            <a:ext cx="2901850" cy="82287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475569"/>
                </a:solidFill>
                <a:latin typeface="Inter"/>
                <a:ea typeface="Inter"/>
                <a:cs typeface="Inter"/>
                <a:sym typeface="Inter"/>
              </a:rPr>
              <a:t>Upload data to generate real-time churn predictions utilizing our XGBoost architecture.</a:t>
            </a:r>
            <a:endParaRPr/>
          </a:p>
        </p:txBody>
      </p:sp>
      <p:pic>
        <p:nvPicPr>
          <p:cNvPr descr="image.png" id="464" name="Google Shape;464;p36"/>
          <p:cNvPicPr preferRelativeResize="0"/>
          <p:nvPr/>
        </p:nvPicPr>
        <p:blipFill rotWithShape="1">
          <a:blip r:embed="rId8">
            <a:alphaModFix/>
          </a:blip>
          <a:srcRect b="0" l="0" r="0" t="0"/>
          <a:stretch/>
        </p:blipFill>
        <p:spPr>
          <a:xfrm>
            <a:off x="5667226" y="2693640"/>
            <a:ext cx="857250" cy="857250"/>
          </a:xfrm>
          <a:prstGeom prst="rect">
            <a:avLst/>
          </a:prstGeom>
          <a:noFill/>
          <a:ln>
            <a:noFill/>
          </a:ln>
        </p:spPr>
      </p:pic>
      <p:sp>
        <p:nvSpPr>
          <p:cNvPr id="465" name="Google Shape;465;p36"/>
          <p:cNvSpPr txBox="1"/>
          <p:nvPr/>
        </p:nvSpPr>
        <p:spPr>
          <a:xfrm>
            <a:off x="4780686" y="3789015"/>
            <a:ext cx="2630328" cy="3333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0F172A"/>
                </a:solidFill>
                <a:latin typeface="Plus Jakarta Sans SemiBold"/>
                <a:ea typeface="Plus Jakarta Sans SemiBold"/>
                <a:cs typeface="Plus Jakarta Sans SemiBold"/>
                <a:sym typeface="Plus Jakarta Sans SemiBold"/>
              </a:rPr>
              <a:t>Revenue Estimation</a:t>
            </a:r>
            <a:endParaRPr/>
          </a:p>
        </p:txBody>
      </p:sp>
      <p:sp>
        <p:nvSpPr>
          <p:cNvPr id="466" name="Google Shape;466;p36"/>
          <p:cNvSpPr txBox="1"/>
          <p:nvPr/>
        </p:nvSpPr>
        <p:spPr>
          <a:xfrm>
            <a:off x="4644925" y="4265265"/>
            <a:ext cx="2901999" cy="82287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475569"/>
                </a:solidFill>
                <a:latin typeface="Inter"/>
                <a:ea typeface="Inter"/>
                <a:cs typeface="Inter"/>
                <a:sym typeface="Inter"/>
              </a:rPr>
              <a:t>Display predicted customer lifetime values derived from historical transaction behaviors.</a:t>
            </a:r>
            <a:endParaRPr/>
          </a:p>
        </p:txBody>
      </p:sp>
      <p:pic>
        <p:nvPicPr>
          <p:cNvPr descr="image.png" id="467" name="Google Shape;467;p36"/>
          <p:cNvPicPr preferRelativeResize="0"/>
          <p:nvPr/>
        </p:nvPicPr>
        <p:blipFill rotWithShape="1">
          <a:blip r:embed="rId9">
            <a:alphaModFix/>
          </a:blip>
          <a:srcRect b="0" l="0" r="0" t="0"/>
          <a:stretch/>
        </p:blipFill>
        <p:spPr>
          <a:xfrm>
            <a:off x="9445525" y="2693640"/>
            <a:ext cx="857250" cy="857250"/>
          </a:xfrm>
          <a:prstGeom prst="rect">
            <a:avLst/>
          </a:prstGeom>
          <a:noFill/>
          <a:ln>
            <a:noFill/>
          </a:ln>
        </p:spPr>
      </p:pic>
      <p:sp>
        <p:nvSpPr>
          <p:cNvPr id="468" name="Google Shape;468;p36"/>
          <p:cNvSpPr txBox="1"/>
          <p:nvPr/>
        </p:nvSpPr>
        <p:spPr>
          <a:xfrm>
            <a:off x="8473975" y="3789015"/>
            <a:ext cx="2800350" cy="3333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0F172A"/>
                </a:solidFill>
                <a:latin typeface="Plus Jakarta Sans SemiBold"/>
                <a:ea typeface="Plus Jakarta Sans SemiBold"/>
                <a:cs typeface="Plus Jakarta Sans SemiBold"/>
                <a:sym typeface="Plus Jakarta Sans SemiBold"/>
              </a:rPr>
              <a:t>Business Intelligence</a:t>
            </a:r>
            <a:endParaRPr/>
          </a:p>
        </p:txBody>
      </p:sp>
      <p:sp>
        <p:nvSpPr>
          <p:cNvPr id="469" name="Google Shape;469;p36"/>
          <p:cNvSpPr txBox="1"/>
          <p:nvPr/>
        </p:nvSpPr>
        <p:spPr>
          <a:xfrm>
            <a:off x="8423225" y="4265265"/>
            <a:ext cx="2901850" cy="82287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475569"/>
                </a:solidFill>
                <a:latin typeface="Inter"/>
                <a:ea typeface="Inter"/>
                <a:cs typeface="Inter"/>
                <a:sym typeface="Inter"/>
              </a:rPr>
              <a:t>Visualize K-Means segments to instantly identify VIPs and at-risk demographics.</a:t>
            </a:r>
            <a:endParaRPr/>
          </a:p>
        </p:txBody>
      </p:sp>
      <p:pic>
        <p:nvPicPr>
          <p:cNvPr descr="image.png" id="470" name="Google Shape;470;p36"/>
          <p:cNvPicPr preferRelativeResize="0"/>
          <p:nvPr/>
        </p:nvPicPr>
        <p:blipFill rotWithShape="1">
          <a:blip r:embed="rId10">
            <a:alphaModFix/>
          </a:blip>
          <a:srcRect b="0" l="0" r="0" t="0"/>
          <a:stretch/>
        </p:blipFill>
        <p:spPr>
          <a:xfrm>
            <a:off x="2031950" y="2893665"/>
            <a:ext cx="571500" cy="457200"/>
          </a:xfrm>
          <a:prstGeom prst="rect">
            <a:avLst/>
          </a:prstGeom>
          <a:noFill/>
          <a:ln>
            <a:noFill/>
          </a:ln>
        </p:spPr>
      </p:pic>
      <p:pic>
        <p:nvPicPr>
          <p:cNvPr descr="image.png" id="471" name="Google Shape;471;p36"/>
          <p:cNvPicPr preferRelativeResize="0"/>
          <p:nvPr/>
        </p:nvPicPr>
        <p:blipFill rotWithShape="1">
          <a:blip r:embed="rId11">
            <a:alphaModFix/>
          </a:blip>
          <a:srcRect b="0" l="0" r="0" t="0"/>
          <a:stretch/>
        </p:blipFill>
        <p:spPr>
          <a:xfrm>
            <a:off x="5867251" y="2893665"/>
            <a:ext cx="457200" cy="457200"/>
          </a:xfrm>
          <a:prstGeom prst="rect">
            <a:avLst/>
          </a:prstGeom>
          <a:noFill/>
          <a:ln>
            <a:noFill/>
          </a:ln>
        </p:spPr>
      </p:pic>
      <p:pic>
        <p:nvPicPr>
          <p:cNvPr descr="image.png" id="472" name="Google Shape;472;p36"/>
          <p:cNvPicPr preferRelativeResize="0"/>
          <p:nvPr/>
        </p:nvPicPr>
        <p:blipFill rotWithShape="1">
          <a:blip r:embed="rId12">
            <a:alphaModFix/>
          </a:blip>
          <a:srcRect b="0" l="0" r="0" t="0"/>
          <a:stretch/>
        </p:blipFill>
        <p:spPr>
          <a:xfrm>
            <a:off x="9616975" y="2893665"/>
            <a:ext cx="514350" cy="457200"/>
          </a:xfrm>
          <a:prstGeom prst="rect">
            <a:avLst/>
          </a:prstGeom>
          <a:noFill/>
          <a:ln>
            <a:noFill/>
          </a:ln>
        </p:spPr>
      </p:pic>
      <p:sp>
        <p:nvSpPr>
          <p:cNvPr id="473" name="Google Shape;473;p36"/>
          <p:cNvSpPr txBox="1"/>
          <p:nvPr/>
        </p:nvSpPr>
        <p:spPr>
          <a:xfrm>
            <a:off x="571500" y="571500"/>
            <a:ext cx="11601450"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0284C7"/>
                </a:solidFill>
                <a:latin typeface="Plus Jakarta Sans"/>
                <a:ea typeface="Plus Jakarta Sans"/>
                <a:cs typeface="Plus Jakarta Sans"/>
                <a:sym typeface="Plus Jakarta Sans"/>
              </a:rPr>
              <a:t>Application Functionalities</a:t>
            </a:r>
            <a:endParaRPr/>
          </a:p>
        </p:txBody>
      </p:sp>
      <p:sp>
        <p:nvSpPr>
          <p:cNvPr id="474" name="Google Shape;474;p36"/>
          <p:cNvSpPr/>
          <p:nvPr/>
        </p:nvSpPr>
        <p:spPr>
          <a:xfrm>
            <a:off x="571500" y="1247775"/>
            <a:ext cx="110490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478" name="Shape 478"/>
        <p:cNvGrpSpPr/>
        <p:nvPr/>
      </p:nvGrpSpPr>
      <p:grpSpPr>
        <a:xfrm>
          <a:off x="0" y="0"/>
          <a:ext cx="0" cy="0"/>
          <a:chOff x="0" y="0"/>
          <a:chExt cx="0" cy="0"/>
        </a:xfrm>
      </p:grpSpPr>
      <p:pic>
        <p:nvPicPr>
          <p:cNvPr descr="image.png" id="479" name="Google Shape;479;p3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480" name="Google Shape;480;p37"/>
          <p:cNvPicPr preferRelativeResize="0"/>
          <p:nvPr/>
        </p:nvPicPr>
        <p:blipFill rotWithShape="1">
          <a:blip r:embed="rId4">
            <a:alphaModFix/>
          </a:blip>
          <a:srcRect b="0" l="0" r="0" t="0"/>
          <a:stretch/>
        </p:blipFill>
        <p:spPr>
          <a:xfrm>
            <a:off x="2286000" y="2995612"/>
            <a:ext cx="3619500" cy="2771775"/>
          </a:xfrm>
          <a:prstGeom prst="rect">
            <a:avLst/>
          </a:prstGeom>
          <a:noFill/>
          <a:ln>
            <a:noFill/>
          </a:ln>
        </p:spPr>
      </p:pic>
      <p:pic>
        <p:nvPicPr>
          <p:cNvPr descr="image.png" id="481" name="Google Shape;481;p37"/>
          <p:cNvPicPr preferRelativeResize="0"/>
          <p:nvPr/>
        </p:nvPicPr>
        <p:blipFill rotWithShape="1">
          <a:blip r:embed="rId5">
            <a:alphaModFix/>
          </a:blip>
          <a:srcRect b="0" l="0" r="0" t="0"/>
          <a:stretch/>
        </p:blipFill>
        <p:spPr>
          <a:xfrm>
            <a:off x="6286500" y="2995612"/>
            <a:ext cx="3619500" cy="3381375"/>
          </a:xfrm>
          <a:prstGeom prst="rect">
            <a:avLst/>
          </a:prstGeom>
          <a:noFill/>
          <a:ln>
            <a:noFill/>
          </a:ln>
        </p:spPr>
      </p:pic>
      <p:sp>
        <p:nvSpPr>
          <p:cNvPr id="482" name="Google Shape;482;p37"/>
          <p:cNvSpPr txBox="1"/>
          <p:nvPr/>
        </p:nvSpPr>
        <p:spPr>
          <a:xfrm>
            <a:off x="2590561" y="481012"/>
            <a:ext cx="7010876" cy="6667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200" u="none" cap="none" strike="noStrike">
                <a:solidFill>
                  <a:srgbClr val="0284C7"/>
                </a:solidFill>
                <a:latin typeface="Plus Jakarta Sans"/>
                <a:ea typeface="Plus Jakarta Sans"/>
                <a:cs typeface="Plus Jakarta Sans"/>
                <a:sym typeface="Plus Jakarta Sans"/>
              </a:rPr>
              <a:t>Conclusion &amp; Future Work</a:t>
            </a:r>
            <a:endParaRPr/>
          </a:p>
        </p:txBody>
      </p:sp>
      <p:sp>
        <p:nvSpPr>
          <p:cNvPr id="483" name="Google Shape;483;p37"/>
          <p:cNvSpPr txBox="1"/>
          <p:nvPr/>
        </p:nvSpPr>
        <p:spPr>
          <a:xfrm>
            <a:off x="2286000" y="1909762"/>
            <a:ext cx="7620000" cy="6096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475569"/>
                </a:solidFill>
                <a:latin typeface="Inter"/>
                <a:ea typeface="Inter"/>
                <a:cs typeface="Inter"/>
                <a:sym typeface="Inter"/>
              </a:rPr>
              <a:t>We successfully deployed a unified Retail Intelligence System integrating preprocessing, clustering, classification, and regression.</a:t>
            </a:r>
            <a:endParaRPr/>
          </a:p>
        </p:txBody>
      </p:sp>
      <p:sp>
        <p:nvSpPr>
          <p:cNvPr id="484" name="Google Shape;484;p37"/>
          <p:cNvSpPr txBox="1"/>
          <p:nvPr/>
        </p:nvSpPr>
        <p:spPr>
          <a:xfrm>
            <a:off x="2571750" y="3281362"/>
            <a:ext cx="3200400" cy="266700"/>
          </a:xfrm>
          <a:prstGeom prst="rect">
            <a:avLst/>
          </a:prstGeom>
          <a:noFill/>
          <a:ln>
            <a:noFill/>
          </a:ln>
        </p:spPr>
        <p:txBody>
          <a:bodyPr anchorCtr="0" anchor="t" bIns="0" lIns="304800" spcFirstLastPara="1" rIns="0" wrap="square" tIns="0">
            <a:spAutoFit/>
          </a:bodyPr>
          <a:lstStyle/>
          <a:p>
            <a:pPr indent="0" lvl="0" marL="0" marR="0" rtl="0" algn="l">
              <a:spcBef>
                <a:spcPts val="0"/>
              </a:spcBef>
              <a:spcAft>
                <a:spcPts val="0"/>
              </a:spcAft>
              <a:buNone/>
            </a:pPr>
            <a:r>
              <a:rPr b="0" i="0" lang="en-US" sz="1650" u="none" cap="none" strike="noStrike">
                <a:solidFill>
                  <a:srgbClr val="0284C7"/>
                </a:solidFill>
                <a:latin typeface="Plus Jakarta Sans SemiBold"/>
                <a:ea typeface="Plus Jakarta Sans SemiBold"/>
                <a:cs typeface="Plus Jakarta Sans SemiBold"/>
                <a:sym typeface="Plus Jakarta Sans SemiBold"/>
              </a:rPr>
              <a:t>Achieved</a:t>
            </a:r>
            <a:endParaRPr/>
          </a:p>
        </p:txBody>
      </p:sp>
      <p:sp>
        <p:nvSpPr>
          <p:cNvPr id="485" name="Google Shape;485;p37"/>
          <p:cNvSpPr txBox="1"/>
          <p:nvPr/>
        </p:nvSpPr>
        <p:spPr>
          <a:xfrm>
            <a:off x="6572250" y="3281362"/>
            <a:ext cx="3200400" cy="266700"/>
          </a:xfrm>
          <a:prstGeom prst="rect">
            <a:avLst/>
          </a:prstGeom>
          <a:noFill/>
          <a:ln>
            <a:noFill/>
          </a:ln>
        </p:spPr>
        <p:txBody>
          <a:bodyPr anchorCtr="0" anchor="t" bIns="0" lIns="304800" spcFirstLastPara="1" rIns="0" wrap="square" tIns="0">
            <a:spAutoFit/>
          </a:bodyPr>
          <a:lstStyle/>
          <a:p>
            <a:pPr indent="0" lvl="0" marL="0" marR="0" rtl="0" algn="l">
              <a:spcBef>
                <a:spcPts val="0"/>
              </a:spcBef>
              <a:spcAft>
                <a:spcPts val="0"/>
              </a:spcAft>
              <a:buNone/>
            </a:pPr>
            <a:r>
              <a:rPr b="0" i="0" lang="en-US" sz="1650" u="none" cap="none" strike="noStrike">
                <a:solidFill>
                  <a:srgbClr val="0284C7"/>
                </a:solidFill>
                <a:latin typeface="Plus Jakarta Sans SemiBold"/>
                <a:ea typeface="Plus Jakarta Sans SemiBold"/>
                <a:cs typeface="Plus Jakarta Sans SemiBold"/>
                <a:sym typeface="Plus Jakarta Sans SemiBold"/>
              </a:rPr>
              <a:t>Next Steps</a:t>
            </a:r>
            <a:endParaRPr/>
          </a:p>
        </p:txBody>
      </p:sp>
      <p:pic>
        <p:nvPicPr>
          <p:cNvPr descr="image.png" id="486" name="Google Shape;486;p37"/>
          <p:cNvPicPr preferRelativeResize="0"/>
          <p:nvPr/>
        </p:nvPicPr>
        <p:blipFill rotWithShape="1">
          <a:blip r:embed="rId6">
            <a:alphaModFix/>
          </a:blip>
          <a:srcRect b="0" l="0" r="0" t="0"/>
          <a:stretch/>
        </p:blipFill>
        <p:spPr>
          <a:xfrm>
            <a:off x="2571750" y="3319462"/>
            <a:ext cx="209550" cy="209550"/>
          </a:xfrm>
          <a:prstGeom prst="rect">
            <a:avLst/>
          </a:prstGeom>
          <a:noFill/>
          <a:ln>
            <a:noFill/>
          </a:ln>
        </p:spPr>
      </p:pic>
      <p:sp>
        <p:nvSpPr>
          <p:cNvPr id="487" name="Google Shape;487;p37"/>
          <p:cNvSpPr txBox="1"/>
          <p:nvPr/>
        </p:nvSpPr>
        <p:spPr>
          <a:xfrm>
            <a:off x="2657475" y="3690937"/>
            <a:ext cx="1047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475569"/>
                </a:solidFill>
                <a:latin typeface="Inter"/>
                <a:ea typeface="Inter"/>
                <a:cs typeface="Inter"/>
                <a:sym typeface="Inter"/>
              </a:rPr>
              <a:t>•</a:t>
            </a:r>
            <a:endParaRPr/>
          </a:p>
        </p:txBody>
      </p:sp>
      <p:sp>
        <p:nvSpPr>
          <p:cNvPr id="488" name="Google Shape;488;p37"/>
          <p:cNvSpPr txBox="1"/>
          <p:nvPr/>
        </p:nvSpPr>
        <p:spPr>
          <a:xfrm>
            <a:off x="2762250" y="3690937"/>
            <a:ext cx="2857500" cy="304800"/>
          </a:xfrm>
          <a:prstGeom prst="rect">
            <a:avLst/>
          </a:prstGeom>
          <a:noFill/>
          <a:ln>
            <a:noFill/>
          </a:ln>
        </p:spPr>
        <p:txBody>
          <a:bodyPr anchorCtr="0" anchor="t" bIns="0" lIns="104775"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75569"/>
                </a:solidFill>
                <a:latin typeface="Inter"/>
                <a:ea typeface="Inter"/>
                <a:cs typeface="Inter"/>
                <a:sym typeface="Inter"/>
              </a:rPr>
              <a:t>End-to-end data pipeline</a:t>
            </a:r>
            <a:endParaRPr/>
          </a:p>
        </p:txBody>
      </p:sp>
      <p:sp>
        <p:nvSpPr>
          <p:cNvPr id="489" name="Google Shape;489;p37"/>
          <p:cNvSpPr txBox="1"/>
          <p:nvPr/>
        </p:nvSpPr>
        <p:spPr>
          <a:xfrm>
            <a:off x="2657475" y="4186237"/>
            <a:ext cx="1047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475569"/>
                </a:solidFill>
                <a:latin typeface="Inter"/>
                <a:ea typeface="Inter"/>
                <a:cs typeface="Inter"/>
                <a:sym typeface="Inter"/>
              </a:rPr>
              <a:t>•</a:t>
            </a:r>
            <a:endParaRPr/>
          </a:p>
        </p:txBody>
      </p:sp>
      <p:sp>
        <p:nvSpPr>
          <p:cNvPr id="490" name="Google Shape;490;p37"/>
          <p:cNvSpPr txBox="1"/>
          <p:nvPr/>
        </p:nvSpPr>
        <p:spPr>
          <a:xfrm>
            <a:off x="2762250" y="4186237"/>
            <a:ext cx="2857500" cy="609600"/>
          </a:xfrm>
          <a:prstGeom prst="rect">
            <a:avLst/>
          </a:prstGeom>
          <a:noFill/>
          <a:ln>
            <a:noFill/>
          </a:ln>
        </p:spPr>
        <p:txBody>
          <a:bodyPr anchorCtr="0" anchor="t" bIns="0" lIns="104775"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75569"/>
                </a:solidFill>
                <a:latin typeface="Inter"/>
                <a:ea typeface="Inter"/>
                <a:cs typeface="Inter"/>
                <a:sym typeface="Inter"/>
              </a:rPr>
              <a:t>Highly accurate Churn prediction</a:t>
            </a:r>
            <a:endParaRPr/>
          </a:p>
        </p:txBody>
      </p:sp>
      <p:sp>
        <p:nvSpPr>
          <p:cNvPr id="491" name="Google Shape;491;p37"/>
          <p:cNvSpPr txBox="1"/>
          <p:nvPr/>
        </p:nvSpPr>
        <p:spPr>
          <a:xfrm>
            <a:off x="2657475" y="4986337"/>
            <a:ext cx="1047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475569"/>
                </a:solidFill>
                <a:latin typeface="Inter"/>
                <a:ea typeface="Inter"/>
                <a:cs typeface="Inter"/>
                <a:sym typeface="Inter"/>
              </a:rPr>
              <a:t>•</a:t>
            </a:r>
            <a:endParaRPr/>
          </a:p>
        </p:txBody>
      </p:sp>
      <p:sp>
        <p:nvSpPr>
          <p:cNvPr id="492" name="Google Shape;492;p37"/>
          <p:cNvSpPr txBox="1"/>
          <p:nvPr/>
        </p:nvSpPr>
        <p:spPr>
          <a:xfrm>
            <a:off x="2762250" y="4986337"/>
            <a:ext cx="2857500" cy="304800"/>
          </a:xfrm>
          <a:prstGeom prst="rect">
            <a:avLst/>
          </a:prstGeom>
          <a:noFill/>
          <a:ln>
            <a:noFill/>
          </a:ln>
        </p:spPr>
        <p:txBody>
          <a:bodyPr anchorCtr="0" anchor="t" bIns="0" lIns="104775"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75569"/>
                </a:solidFill>
                <a:latin typeface="Inter"/>
                <a:ea typeface="Inter"/>
                <a:cs typeface="Inter"/>
                <a:sym typeface="Inter"/>
              </a:rPr>
              <a:t>Actionable segmentation</a:t>
            </a:r>
            <a:endParaRPr/>
          </a:p>
        </p:txBody>
      </p:sp>
      <p:pic>
        <p:nvPicPr>
          <p:cNvPr descr="image.png" id="493" name="Google Shape;493;p37"/>
          <p:cNvPicPr preferRelativeResize="0"/>
          <p:nvPr/>
        </p:nvPicPr>
        <p:blipFill rotWithShape="1">
          <a:blip r:embed="rId7">
            <a:alphaModFix/>
          </a:blip>
          <a:srcRect b="0" l="0" r="0" t="0"/>
          <a:stretch/>
        </p:blipFill>
        <p:spPr>
          <a:xfrm>
            <a:off x="6572250" y="3319462"/>
            <a:ext cx="209550" cy="209550"/>
          </a:xfrm>
          <a:prstGeom prst="rect">
            <a:avLst/>
          </a:prstGeom>
          <a:noFill/>
          <a:ln>
            <a:noFill/>
          </a:ln>
        </p:spPr>
      </p:pic>
      <p:sp>
        <p:nvSpPr>
          <p:cNvPr id="494" name="Google Shape;494;p37"/>
          <p:cNvSpPr txBox="1"/>
          <p:nvPr/>
        </p:nvSpPr>
        <p:spPr>
          <a:xfrm>
            <a:off x="6657975" y="3690937"/>
            <a:ext cx="1047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475569"/>
                </a:solidFill>
                <a:latin typeface="Inter"/>
                <a:ea typeface="Inter"/>
                <a:cs typeface="Inter"/>
                <a:sym typeface="Inter"/>
              </a:rPr>
              <a:t>•</a:t>
            </a:r>
            <a:endParaRPr/>
          </a:p>
        </p:txBody>
      </p:sp>
      <p:sp>
        <p:nvSpPr>
          <p:cNvPr id="495" name="Google Shape;495;p37"/>
          <p:cNvSpPr txBox="1"/>
          <p:nvPr/>
        </p:nvSpPr>
        <p:spPr>
          <a:xfrm>
            <a:off x="6762750" y="3690937"/>
            <a:ext cx="2857500" cy="609600"/>
          </a:xfrm>
          <a:prstGeom prst="rect">
            <a:avLst/>
          </a:prstGeom>
          <a:noFill/>
          <a:ln>
            <a:noFill/>
          </a:ln>
        </p:spPr>
        <p:txBody>
          <a:bodyPr anchorCtr="0" anchor="t" bIns="0" lIns="104775"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75569"/>
                </a:solidFill>
                <a:latin typeface="Inter"/>
                <a:ea typeface="Inter"/>
                <a:cs typeface="Inter"/>
                <a:sym typeface="Inter"/>
              </a:rPr>
              <a:t>Integration of SHAP for explainability</a:t>
            </a:r>
            <a:endParaRPr/>
          </a:p>
        </p:txBody>
      </p:sp>
      <p:sp>
        <p:nvSpPr>
          <p:cNvPr id="496" name="Google Shape;496;p37"/>
          <p:cNvSpPr txBox="1"/>
          <p:nvPr/>
        </p:nvSpPr>
        <p:spPr>
          <a:xfrm>
            <a:off x="6657975" y="4491037"/>
            <a:ext cx="1047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475569"/>
                </a:solidFill>
                <a:latin typeface="Inter"/>
                <a:ea typeface="Inter"/>
                <a:cs typeface="Inter"/>
                <a:sym typeface="Inter"/>
              </a:rPr>
              <a:t>•</a:t>
            </a:r>
            <a:endParaRPr/>
          </a:p>
        </p:txBody>
      </p:sp>
      <p:sp>
        <p:nvSpPr>
          <p:cNvPr id="497" name="Google Shape;497;p37"/>
          <p:cNvSpPr txBox="1"/>
          <p:nvPr/>
        </p:nvSpPr>
        <p:spPr>
          <a:xfrm>
            <a:off x="6762750" y="4491037"/>
            <a:ext cx="2857500" cy="609600"/>
          </a:xfrm>
          <a:prstGeom prst="rect">
            <a:avLst/>
          </a:prstGeom>
          <a:noFill/>
          <a:ln>
            <a:noFill/>
          </a:ln>
        </p:spPr>
        <p:txBody>
          <a:bodyPr anchorCtr="0" anchor="t" bIns="0" lIns="104775"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75569"/>
                </a:solidFill>
                <a:latin typeface="Inter"/>
                <a:ea typeface="Inter"/>
                <a:cs typeface="Inter"/>
                <a:sym typeface="Inter"/>
              </a:rPr>
              <a:t>Deep learning-based forecasting</a:t>
            </a:r>
            <a:endParaRPr/>
          </a:p>
        </p:txBody>
      </p:sp>
      <p:sp>
        <p:nvSpPr>
          <p:cNvPr id="498" name="Google Shape;498;p37"/>
          <p:cNvSpPr txBox="1"/>
          <p:nvPr/>
        </p:nvSpPr>
        <p:spPr>
          <a:xfrm>
            <a:off x="6657975" y="5291137"/>
            <a:ext cx="1047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475569"/>
                </a:solidFill>
                <a:latin typeface="Inter"/>
                <a:ea typeface="Inter"/>
                <a:cs typeface="Inter"/>
                <a:sym typeface="Inter"/>
              </a:rPr>
              <a:t>•</a:t>
            </a:r>
            <a:endParaRPr/>
          </a:p>
        </p:txBody>
      </p:sp>
      <p:sp>
        <p:nvSpPr>
          <p:cNvPr id="499" name="Google Shape;499;p37"/>
          <p:cNvSpPr txBox="1"/>
          <p:nvPr/>
        </p:nvSpPr>
        <p:spPr>
          <a:xfrm>
            <a:off x="6762750" y="5291137"/>
            <a:ext cx="2857500" cy="609600"/>
          </a:xfrm>
          <a:prstGeom prst="rect">
            <a:avLst/>
          </a:prstGeom>
          <a:noFill/>
          <a:ln>
            <a:noFill/>
          </a:ln>
        </p:spPr>
        <p:txBody>
          <a:bodyPr anchorCtr="0" anchor="t" bIns="0" lIns="104775"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75569"/>
                </a:solidFill>
                <a:latin typeface="Inter"/>
                <a:ea typeface="Inter"/>
                <a:cs typeface="Inter"/>
                <a:sym typeface="Inter"/>
              </a:rPr>
              <a:t>Real-time streaming data ingestion</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503" name="Shape 503"/>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